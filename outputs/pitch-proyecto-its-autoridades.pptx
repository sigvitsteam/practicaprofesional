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0f6d3ab6354683" /><Relationship Type="http://schemas.openxmlformats.org/officeDocument/2006/relationships/extended-properties" Target="/docProps/app.xml" Id="R6099fb4fc1604104" /><Relationship Type="http://schemas.openxmlformats.org/officeDocument/2006/relationships/officeDocument" Target="/ppt/presentation.xml" Id="Rac81debc6a264a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6f567794d46a6"/>
  </p:sldMasterIdLst>
  <p:notesMasterIdLst>
    <p:notesMasterId xmlns:r="http://schemas.openxmlformats.org/officeDocument/2006/relationships" r:id="R1f4a0ec231ab48b8"/>
  </p:notesMasterIdLst>
  <p:sldIdLst>
    <p:sldId xmlns:r="http://schemas.openxmlformats.org/officeDocument/2006/relationships" id="256" r:id="R00b03da774454971"/>
    <p:sldId xmlns:r="http://schemas.openxmlformats.org/officeDocument/2006/relationships" id="257" r:id="R63bc4712b2c8463e"/>
    <p:sldId xmlns:r="http://schemas.openxmlformats.org/officeDocument/2006/relationships" id="258" r:id="R3150c07b12ae4438"/>
    <p:sldId xmlns:r="http://schemas.openxmlformats.org/officeDocument/2006/relationships" id="259" r:id="R30695159d90a46e6"/>
    <p:sldId xmlns:r="http://schemas.openxmlformats.org/officeDocument/2006/relationships" id="260" r:id="R02fec59757b34fe2"/>
    <p:sldId xmlns:r="http://schemas.openxmlformats.org/officeDocument/2006/relationships" id="261" r:id="Rf86bd2441d6042da"/>
    <p:sldId xmlns:r="http://schemas.openxmlformats.org/officeDocument/2006/relationships" id="262" r:id="Rb9d820ef7b364bdf"/>
    <p:sldId xmlns:r="http://schemas.openxmlformats.org/officeDocument/2006/relationships" id="263" r:id="Rbe0e42ae28c0426c"/>
    <p:sldId xmlns:r="http://schemas.openxmlformats.org/officeDocument/2006/relationships" id="264" r:id="R20bcf107ba464b53"/>
    <p:sldId xmlns:r="http://schemas.openxmlformats.org/officeDocument/2006/relationships" id="265" r:id="R4b1628e1120740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7960d4cd74ab5" /><Relationship Type="http://schemas.openxmlformats.org/officeDocument/2006/relationships/slideMaster" Target="/ppt/slideMasters/slideMaster1.xml" Id="Ree96f567794d46a6" /><Relationship Type="http://schemas.openxmlformats.org/officeDocument/2006/relationships/notesMaster" Target="/ppt/notesMasters/notesMaster1.xml" Id="R1f4a0ec231ab48b8" /><Relationship Type="http://schemas.openxmlformats.org/officeDocument/2006/relationships/presProps" Target="/ppt/presProps.xml" Id="R07be2988049d4505" /><Relationship Type="http://schemas.openxmlformats.org/officeDocument/2006/relationships/tableStyles" Target="/ppt/tableStyles.xml" Id="R21c419f54c374736" /><Relationship Type="http://schemas.openxmlformats.org/officeDocument/2006/relationships/slide" Target="/ppt/slides/slide1.xml" Id="R00b03da774454971" /><Relationship Type="http://schemas.openxmlformats.org/officeDocument/2006/relationships/slide" Target="/ppt/slides/slide2.xml" Id="R63bc4712b2c8463e" /><Relationship Type="http://schemas.openxmlformats.org/officeDocument/2006/relationships/slide" Target="/ppt/slides/slide3.xml" Id="R3150c07b12ae4438" /><Relationship Type="http://schemas.openxmlformats.org/officeDocument/2006/relationships/slide" Target="/ppt/slides/slide4.xml" Id="R30695159d90a46e6" /><Relationship Type="http://schemas.openxmlformats.org/officeDocument/2006/relationships/slide" Target="/ppt/slides/slide5.xml" Id="R02fec59757b34fe2" /><Relationship Type="http://schemas.openxmlformats.org/officeDocument/2006/relationships/slide" Target="/ppt/slides/slide6.xml" Id="Rf86bd2441d6042da" /><Relationship Type="http://schemas.openxmlformats.org/officeDocument/2006/relationships/slide" Target="/ppt/slides/slide7.xml" Id="Rb9d820ef7b364bdf" /><Relationship Type="http://schemas.openxmlformats.org/officeDocument/2006/relationships/slide" Target="/ppt/slides/slide8.xml" Id="Rbe0e42ae28c0426c" /><Relationship Type="http://schemas.openxmlformats.org/officeDocument/2006/relationships/slide" Target="/ppt/slides/slide9.xml" Id="R20bcf107ba464b53" /><Relationship Type="http://schemas.openxmlformats.org/officeDocument/2006/relationships/slide" Target="/ppt/slides/slide10.xml" Id="R4b1628e11207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c5e0ca4dc44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578985d394b19" /><Relationship Type="http://schemas.openxmlformats.org/officeDocument/2006/relationships/notesMaster" Target="/ppt/notesMasters/notesMaster1.xml" Id="R032262d1f2764b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e5c7a76f44ea2" /><Relationship Type="http://schemas.openxmlformats.org/officeDocument/2006/relationships/notesMaster" Target="/ppt/notesMasters/notesMaster1.xml" Id="Ra6e74223de57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bad188f1b49d2" /><Relationship Type="http://schemas.openxmlformats.org/officeDocument/2006/relationships/notesMaster" Target="/ppt/notesMasters/notesMaster1.xml" Id="R058ddcb9382a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96279881449c7" /><Relationship Type="http://schemas.openxmlformats.org/officeDocument/2006/relationships/notesMaster" Target="/ppt/notesMasters/notesMaster1.xml" Id="Rb9a1dac387dc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c90d5834374d49" /><Relationship Type="http://schemas.openxmlformats.org/officeDocument/2006/relationships/notesMaster" Target="/ppt/notesMasters/notesMaster1.xml" Id="R578b5a8f68db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886aed13ac4e70" /><Relationship Type="http://schemas.openxmlformats.org/officeDocument/2006/relationships/notesMaster" Target="/ppt/notesMasters/notesMaster1.xml" Id="R3cfedd3cb6a2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8ebd06983d401c" /><Relationship Type="http://schemas.openxmlformats.org/officeDocument/2006/relationships/notesMaster" Target="/ppt/notesMasters/notesMaster1.xml" Id="Re6fd2155e9674c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958959b5ca419f" /><Relationship Type="http://schemas.openxmlformats.org/officeDocument/2006/relationships/notesMaster" Target="/ppt/notesMasters/notesMaster1.xml" Id="Re463d004f984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7c3dce5ee84ac7" /><Relationship Type="http://schemas.openxmlformats.org/officeDocument/2006/relationships/notesMaster" Target="/ppt/notesMasters/notesMaster1.xml" Id="R2f99945d4d6d4b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7f519b159e4d45" /><Relationship Type="http://schemas.openxmlformats.org/officeDocument/2006/relationships/notesMaster" Target="/ppt/notesMasters/notesMaster1.xml" Id="R100af050f80a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063e17544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498e949e449c5" /><Relationship Type="http://schemas.openxmlformats.org/officeDocument/2006/relationships/slideLayout" Target="/ppt/slideLayouts/slideLayout1.xml" Id="Rc2ca52cf6101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a52cf6101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93b898164b10" /><Relationship Type="http://schemas.openxmlformats.org/officeDocument/2006/relationships/notesSlide" Target="/ppt/notesSlides/notesSlide1.xml" Id="R9ec61514400f40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b23f6afed4f9a" /><Relationship Type="http://schemas.openxmlformats.org/officeDocument/2006/relationships/notesSlide" Target="/ppt/notesSlides/notesSlide2.xml" Id="R57e3ec541c75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706b4e2f84985" /><Relationship Type="http://schemas.openxmlformats.org/officeDocument/2006/relationships/notesSlide" Target="/ppt/notesSlides/notesSlide3.xml" Id="R5c8cee0aea0f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8f74244a34c98" /><Relationship Type="http://schemas.openxmlformats.org/officeDocument/2006/relationships/notesSlide" Target="/ppt/notesSlides/notesSlide4.xml" Id="R2570f73ef5c0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056807a13488b" /><Relationship Type="http://schemas.openxmlformats.org/officeDocument/2006/relationships/notesSlide" Target="/ppt/notesSlides/notesSlide5.xml" Id="R34fb4f64206d4b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def420a2d4486" /><Relationship Type="http://schemas.openxmlformats.org/officeDocument/2006/relationships/notesSlide" Target="/ppt/notesSlides/notesSlide6.xml" Id="Rd036830ec48e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d82da27c41db" /><Relationship Type="http://schemas.openxmlformats.org/officeDocument/2006/relationships/notesSlide" Target="/ppt/notesSlides/notesSlide7.xml" Id="Rbbed95a8350c45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bd0a5f6744f4c" /><Relationship Type="http://schemas.openxmlformats.org/officeDocument/2006/relationships/notesSlide" Target="/ppt/notesSlides/notesSlide8.xml" Id="R07fd04f2f5ff4d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5f5b238c543f5" /><Relationship Type="http://schemas.openxmlformats.org/officeDocument/2006/relationships/notesSlide" Target="/ppt/notesSlides/notesSlide9.xml" Id="R13b9347c136a4a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76b44f8f54e1a" /><Relationship Type="http://schemas.openxmlformats.org/officeDocument/2006/relationships/notesSlide" Target="/ppt/notesSlides/notesSlide10.xml" Id="Rb51528ec2bf04d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281CA63-DA04-45A1-A070-4AA9BEE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F19F944-E511-454C-A7A0-2C5FECD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PROPUESTA PARA AUTORIDADES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1A34552-5083-41B6-B376-9AFA598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Información ITS confiable
para decidir a tiempo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CEE4BF7-D4F0-493C-AE06-5794477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8858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Piloto en Puerto Cortés con arquitectura preparada para escalar a nivel regional y nacional</a:t>
            </a:r>
          </a:p>
        </p:txBody>
      </p:sp>
      <p:sp>
        <p:nvSpPr>
          <p:cNvPr id="5" name="cover-callout-bg">
            <a:extLst xmlns:a="http://schemas.openxmlformats.org/drawingml/2006/main">
              <a:ext uri="{FF2B5EF4-FFF2-40B4-BE49-F238E27FC236}">
                <a16:creationId xmlns:a16="http://schemas.microsoft.com/office/drawing/2014/main" id="{B37D3482-DE4D-49C6-987E-956499F8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6" name="cover-callout">
            <a:extLst xmlns:a="http://schemas.openxmlformats.org/drawingml/2006/main">
              <a:ext uri="{FF2B5EF4-FFF2-40B4-BE49-F238E27FC236}">
                <a16:creationId xmlns:a16="http://schemas.microsoft.com/office/drawing/2014/main" id="{1B55B29C-DCB4-4868-9141-4936F8B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4629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Captura  •  Validación  •  Consolidación  •  Análisis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A6310CB-A3FE-44A0-B739-CBDE6CE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Proyecto de automatización de informes del programa ITS</a:t>
            </a:r>
          </a:p>
        </p:txBody>
      </p:sp>
    </p:spTree>
    <p:extLst>
      <p:ext uri="{BB962C8B-B14F-4D97-AF65-F5344CB8AC3E}">
        <p14:creationId xmlns:p14="http://schemas.microsoft.com/office/powerpoint/2010/main" val="382683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2">
            <a:extLst xmlns:a="http://schemas.openxmlformats.org/drawingml/2006/main">
              <a:ext uri="{FF2B5EF4-FFF2-40B4-BE49-F238E27FC236}">
                <a16:creationId xmlns:a16="http://schemas.microsoft.com/office/drawing/2014/main" id="{A24A3033-32F7-4E48-8D53-12A2CBD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EL RETO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8CFBE83-F8C7-4F6B-9998-5123D011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0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El dato pierde velocidad y trazabilidad entre niveles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CB615DAF-B6E5-4377-BCD3-19654F6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1341FA8-7D77-4B69-83B0-CFD7552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F7095BFF-AACF-4598-AEF6-1B3237CC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La información nace en el establecimiento, pero su consolidación depende de pasos manuales y revisiones difíciles de rastrear.</a:t>
            </a:r>
          </a:p>
        </p:txBody>
      </p:sp>
      <p:sp>
        <p:nvSpPr>
          <p:cNvPr id="6" name="s2-card1-bg">
            <a:extLst xmlns:a="http://schemas.openxmlformats.org/drawingml/2006/main">
              <a:ext uri="{FF2B5EF4-FFF2-40B4-BE49-F238E27FC236}">
                <a16:creationId xmlns:a16="http://schemas.microsoft.com/office/drawing/2014/main" id="{051FDED2-F7A2-4933-A249-D3380AA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7" name="s2-card2-bg">
            <a:extLst xmlns:a="http://schemas.openxmlformats.org/drawingml/2006/main">
              <a:ext uri="{FF2B5EF4-FFF2-40B4-BE49-F238E27FC236}">
                <a16:creationId xmlns:a16="http://schemas.microsoft.com/office/drawing/2014/main" id="{A10E552C-38E0-4003-AF7D-D7CD0CE9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8" name="s2-card3-bg">
            <a:extLst xmlns:a="http://schemas.openxmlformats.org/drawingml/2006/main">
              <a:ext uri="{FF2B5EF4-FFF2-40B4-BE49-F238E27FC236}">
                <a16:creationId xmlns:a16="http://schemas.microsoft.com/office/drawing/2014/main" id="{D3977DCF-E6D0-48B9-BC7D-C2CC089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9" name="s2-n1">
            <a:extLst xmlns:a="http://schemas.openxmlformats.org/drawingml/2006/main">
              <a:ext uri="{FF2B5EF4-FFF2-40B4-BE49-F238E27FC236}">
                <a16:creationId xmlns:a16="http://schemas.microsoft.com/office/drawing/2014/main" id="{7EDDBC36-FFF1-4C43-8B21-7599345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0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2-h1">
            <a:extLst xmlns:a="http://schemas.openxmlformats.org/drawingml/2006/main">
              <a:ext uri="{FF2B5EF4-FFF2-40B4-BE49-F238E27FC236}">
                <a16:creationId xmlns:a16="http://schemas.microsoft.com/office/drawing/2014/main" id="{618992E7-F9B5-4EE2-953B-381A88D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Consolidación lenta</a:t>
            </a:r>
          </a:p>
        </p:txBody>
      </p:sp>
      <p:sp>
        <p:nvSpPr>
          <p:cNvPr id="11" name="s2-b1">
            <a:extLst xmlns:a="http://schemas.openxmlformats.org/drawingml/2006/main">
              <a:ext uri="{FF2B5EF4-FFF2-40B4-BE49-F238E27FC236}">
                <a16:creationId xmlns:a16="http://schemas.microsoft.com/office/drawing/2014/main" id="{9088D0A5-96A3-42BA-8AAE-C484CD0D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4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Repetición de tareas, archivos dispersos y mayor tiempo para cerrar informes.</a:t>
            </a:r>
          </a:p>
        </p:txBody>
      </p:sp>
      <p:sp>
        <p:nvSpPr>
          <p:cNvPr id="12" name="s2-n2">
            <a:extLst xmlns:a="http://schemas.openxmlformats.org/drawingml/2006/main">
              <a:ext uri="{FF2B5EF4-FFF2-40B4-BE49-F238E27FC236}">
                <a16:creationId xmlns:a16="http://schemas.microsoft.com/office/drawing/2014/main" id="{8DD411F4-088F-46FD-9194-EA15E8F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60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2-h2">
            <a:extLst xmlns:a="http://schemas.openxmlformats.org/drawingml/2006/main">
              <a:ext uri="{FF2B5EF4-FFF2-40B4-BE49-F238E27FC236}">
                <a16:creationId xmlns:a16="http://schemas.microsoft.com/office/drawing/2014/main" id="{404FB3C5-9903-474A-B9F9-AF2CA02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520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Calidad variable</a:t>
            </a:r>
          </a:p>
        </p:txBody>
      </p:sp>
      <p:sp>
        <p:nvSpPr>
          <p:cNvPr id="14" name="s2-b2">
            <a:extLst xmlns:a="http://schemas.openxmlformats.org/drawingml/2006/main">
              <a:ext uri="{FF2B5EF4-FFF2-40B4-BE49-F238E27FC236}">
                <a16:creationId xmlns:a16="http://schemas.microsoft.com/office/drawing/2014/main" id="{DF3F812E-2306-45D9-8B7E-5727093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16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Las inconsistencias se detectan tarde y las correcciones pierden contexto.</a:t>
            </a:r>
          </a:p>
        </p:txBody>
      </p:sp>
      <p:sp>
        <p:nvSpPr>
          <p:cNvPr id="15" name="s2-n3">
            <a:extLst xmlns:a="http://schemas.openxmlformats.org/drawingml/2006/main">
              <a:ext uri="{FF2B5EF4-FFF2-40B4-BE49-F238E27FC236}">
                <a16:creationId xmlns:a16="http://schemas.microsoft.com/office/drawing/2014/main" id="{4C0C35D1-CED8-4E7E-9885-0249C77A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609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2-h3">
            <a:extLst xmlns:a="http://schemas.openxmlformats.org/drawingml/2006/main">
              <a:ext uri="{FF2B5EF4-FFF2-40B4-BE49-F238E27FC236}">
                <a16:creationId xmlns:a16="http://schemas.microsoft.com/office/drawing/2014/main" id="{59D95C5E-B03D-4B09-9D86-16FDA30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Visión limitada</a:t>
            </a:r>
          </a:p>
        </p:txBody>
      </p:sp>
      <p:sp>
        <p:nvSpPr>
          <p:cNvPr id="17" name="s2-b3">
            <a:extLst xmlns:a="http://schemas.openxmlformats.org/drawingml/2006/main">
              <a:ext uri="{FF2B5EF4-FFF2-40B4-BE49-F238E27FC236}">
                <a16:creationId xmlns:a16="http://schemas.microsoft.com/office/drawing/2014/main" id="{A4899145-9CD2-4AE7-9022-6D242148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2571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8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Cuesta comparar territorios, analizar procedencias y actuar oportunamente.</a:t>
            </a:r>
          </a:p>
        </p:txBody>
      </p:sp>
    </p:spTree>
    <p:extLst>
      <p:ext uri="{BB962C8B-B14F-4D97-AF65-F5344CB8AC3E}">
        <p14:creationId xmlns:p14="http://schemas.microsoft.com/office/powerpoint/2010/main" val="233458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3">
            <a:extLst xmlns:a="http://schemas.openxmlformats.org/drawingml/2006/main">
              <a:ext uri="{FF2B5EF4-FFF2-40B4-BE49-F238E27FC236}">
                <a16:creationId xmlns:a16="http://schemas.microsoft.com/office/drawing/2014/main" id="{046AF815-FBB6-4C6E-BED2-A9B8E97C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CÓMO FUNCIONA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BE77487-B648-419A-B852-6CC6F70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El ciclo se conecta sin exponer datos sensibles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466017F4-1EA5-4C67-BDC7-D13B5FE1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E596EA8-16E2-4666-B8B2-F7B8CD31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3-lead">
            <a:extLst xmlns:a="http://schemas.openxmlformats.org/drawingml/2006/main">
              <a:ext uri="{FF2B5EF4-FFF2-40B4-BE49-F238E27FC236}">
                <a16:creationId xmlns:a16="http://schemas.microsoft.com/office/drawing/2014/main" id="{8372EC2D-28DD-4B50-94FA-CD94B5EE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163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El flujo respeta la estructura institucional y deja evidencia de cada envío, devolución y aprobación.</a:t>
            </a:r>
          </a:p>
        </p:txBody>
      </p:sp>
      <p:sp>
        <p:nvSpPr>
          <p:cNvPr id="6" name="arrow-250-324">
            <a:extLst xmlns:a="http://schemas.openxmlformats.org/drawingml/2006/main">
              <a:ext uri="{FF2B5EF4-FFF2-40B4-BE49-F238E27FC236}">
                <a16:creationId xmlns:a16="http://schemas.microsoft.com/office/drawing/2014/main" id="{5858BBAA-F34A-4C31-BAFB-522FF25A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861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7" name="arrow-470-324">
            <a:extLst xmlns:a="http://schemas.openxmlformats.org/drawingml/2006/main">
              <a:ext uri="{FF2B5EF4-FFF2-40B4-BE49-F238E27FC236}">
                <a16:creationId xmlns:a16="http://schemas.microsoft.com/office/drawing/2014/main" id="{D9D4ADEE-EA1D-43AE-AFCC-3D81D4E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8" name="arrow-690-324">
            <a:extLst xmlns:a="http://schemas.openxmlformats.org/drawingml/2006/main">
              <a:ext uri="{FF2B5EF4-FFF2-40B4-BE49-F238E27FC236}">
                <a16:creationId xmlns:a16="http://schemas.microsoft.com/office/drawing/2014/main" id="{5830CF5A-E952-4497-BC8D-E221314E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9" name="arrow-910-324">
            <a:extLst xmlns:a="http://schemas.openxmlformats.org/drawingml/2006/main">
              <a:ext uri="{FF2B5EF4-FFF2-40B4-BE49-F238E27FC236}">
                <a16:creationId xmlns:a16="http://schemas.microsoft.com/office/drawing/2014/main" id="{F501EA58-77A9-4AA6-8D58-DB69049E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10" name="s3-node1">
            <a:extLst xmlns:a="http://schemas.openxmlformats.org/drawingml/2006/main">
              <a:ext uri="{FF2B5EF4-FFF2-40B4-BE49-F238E27FC236}">
                <a16:creationId xmlns:a16="http://schemas.microsoft.com/office/drawing/2014/main" id="{E9ADF819-8C66-438B-BEB6-D68AED9D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885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11" name="s3-node2">
            <a:extLst xmlns:a="http://schemas.openxmlformats.org/drawingml/2006/main">
              <a:ext uri="{FF2B5EF4-FFF2-40B4-BE49-F238E27FC236}">
                <a16:creationId xmlns:a16="http://schemas.microsoft.com/office/drawing/2014/main" id="{716B7525-09EC-457E-BD9E-1790F68B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148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2" name="s3-node3">
            <a:extLst xmlns:a="http://schemas.openxmlformats.org/drawingml/2006/main">
              <a:ext uri="{FF2B5EF4-FFF2-40B4-BE49-F238E27FC236}">
                <a16:creationId xmlns:a16="http://schemas.microsoft.com/office/drawing/2014/main" id="{F0297233-CCE3-46C9-98BF-79C7487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148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3" name="s3-node4">
            <a:extLst xmlns:a="http://schemas.openxmlformats.org/drawingml/2006/main">
              <a:ext uri="{FF2B5EF4-FFF2-40B4-BE49-F238E27FC236}">
                <a16:creationId xmlns:a16="http://schemas.microsoft.com/office/drawing/2014/main" id="{ADDA26B6-C752-4C90-B87B-225171CC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48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4" name="s3-node5">
            <a:extLst xmlns:a="http://schemas.openxmlformats.org/drawingml/2006/main">
              <a:ext uri="{FF2B5EF4-FFF2-40B4-BE49-F238E27FC236}">
                <a16:creationId xmlns:a16="http://schemas.microsoft.com/office/drawing/2014/main" id="{CDB5C9F1-3FC9-4461-831C-9054F48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885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5" name="s3-l1">
            <a:extLst xmlns:a="http://schemas.openxmlformats.org/drawingml/2006/main">
              <a:ext uri="{FF2B5EF4-FFF2-40B4-BE49-F238E27FC236}">
                <a16:creationId xmlns:a16="http://schemas.microsoft.com/office/drawing/2014/main" id="{C55519FB-4369-4580-8475-ABD3D28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504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ESTABLECIMIENTO</a:t>
            </a:r>
          </a:p>
        </p:txBody>
      </p:sp>
      <p:sp>
        <p:nvSpPr>
          <p:cNvPr id="16" name="s3-v1">
            <a:extLst xmlns:a="http://schemas.openxmlformats.org/drawingml/2006/main">
              <a:ext uri="{FF2B5EF4-FFF2-40B4-BE49-F238E27FC236}">
                <a16:creationId xmlns:a16="http://schemas.microsoft.com/office/drawing/2014/main" id="{95E5D5FB-149A-4E8D-BA77-312CAFC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504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Captura ITS 1
y genera ITS 2</a:t>
            </a:r>
          </a:p>
        </p:txBody>
      </p:sp>
      <p:sp>
        <p:nvSpPr>
          <p:cNvPr id="17" name="s3-l2">
            <a:extLst xmlns:a="http://schemas.openxmlformats.org/drawingml/2006/main">
              <a:ext uri="{FF2B5EF4-FFF2-40B4-BE49-F238E27FC236}">
                <a16:creationId xmlns:a16="http://schemas.microsoft.com/office/drawing/2014/main" id="{5CC0B4FA-FCDD-48B0-90F6-F223F31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2192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MUNICIPIO</a:t>
            </a:r>
          </a:p>
        </p:txBody>
      </p:sp>
      <p:sp>
        <p:nvSpPr>
          <p:cNvPr id="18" name="s3-v2">
            <a:extLst xmlns:a="http://schemas.openxmlformats.org/drawingml/2006/main">
              <a:ext uri="{FF2B5EF4-FFF2-40B4-BE49-F238E27FC236}">
                <a16:creationId xmlns:a16="http://schemas.microsoft.com/office/drawing/2014/main" id="{CBF80AAE-077B-4F35-9E08-B80AE873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00400"/>
            <a:ext cx="121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Revisa y
consolida</a:t>
            </a:r>
          </a:p>
        </p:txBody>
      </p:sp>
      <p:sp>
        <p:nvSpPr>
          <p:cNvPr id="19" name="s3-l3">
            <a:extLst xmlns:a="http://schemas.openxmlformats.org/drawingml/2006/main">
              <a:ext uri="{FF2B5EF4-FFF2-40B4-BE49-F238E27FC236}">
                <a16:creationId xmlns:a16="http://schemas.microsoft.com/office/drawing/2014/main" id="{AC99CE32-89B0-4E06-BF24-66F3C9B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2192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REGIÓN</a:t>
            </a:r>
          </a:p>
        </p:txBody>
      </p:sp>
      <p:sp>
        <p:nvSpPr>
          <p:cNvPr id="20" name="s3-v3">
            <a:extLst xmlns:a="http://schemas.openxmlformats.org/drawingml/2006/main">
              <a:ext uri="{FF2B5EF4-FFF2-40B4-BE49-F238E27FC236}">
                <a16:creationId xmlns:a16="http://schemas.microsoft.com/office/drawing/2014/main" id="{33FACDBC-8037-425A-87FA-6C37F779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121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Valida el
municipio</a:t>
            </a:r>
          </a:p>
        </p:txBody>
      </p:sp>
      <p:sp>
        <p:nvSpPr>
          <p:cNvPr id="21" name="s3-l4">
            <a:extLst xmlns:a="http://schemas.openxmlformats.org/drawingml/2006/main">
              <a:ext uri="{FF2B5EF4-FFF2-40B4-BE49-F238E27FC236}">
                <a16:creationId xmlns:a16="http://schemas.microsoft.com/office/drawing/2014/main" id="{15145512-B624-4B61-B114-BE1328D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2192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84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NIVEL CENTRAL</a:t>
            </a:r>
          </a:p>
        </p:txBody>
      </p:sp>
      <p:sp>
        <p:nvSpPr>
          <p:cNvPr id="22" name="s3-v4">
            <a:extLst xmlns:a="http://schemas.openxmlformats.org/drawingml/2006/main">
              <a:ext uri="{FF2B5EF4-FFF2-40B4-BE49-F238E27FC236}">
                <a16:creationId xmlns:a16="http://schemas.microsoft.com/office/drawing/2014/main" id="{761BE5F7-7CDD-45E7-86F6-4BC0AF3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121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Aprueba y
cierra</a:t>
            </a:r>
          </a:p>
        </p:txBody>
      </p:sp>
      <p:sp>
        <p:nvSpPr>
          <p:cNvPr id="23" name="s3-l5">
            <a:extLst xmlns:a="http://schemas.openxmlformats.org/drawingml/2006/main">
              <a:ext uri="{FF2B5EF4-FFF2-40B4-BE49-F238E27FC236}">
                <a16:creationId xmlns:a16="http://schemas.microsoft.com/office/drawing/2014/main" id="{F8A327FB-08B1-4F13-86E6-62E32E4D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15049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2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REPORTE NACIONAL</a:t>
            </a:r>
          </a:p>
        </p:txBody>
      </p:sp>
      <p:sp>
        <p:nvSpPr>
          <p:cNvPr id="24" name="s3-v5">
            <a:extLst xmlns:a="http://schemas.openxmlformats.org/drawingml/2006/main">
              <a:ext uri="{FF2B5EF4-FFF2-40B4-BE49-F238E27FC236}">
                <a16:creationId xmlns:a16="http://schemas.microsoft.com/office/drawing/2014/main" id="{12BFDD10-64D8-4634-97AA-6B301C5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1504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9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Información lista
para decidir</a:t>
            </a:r>
          </a:p>
        </p:txBody>
      </p:sp>
      <p:sp>
        <p:nvSpPr>
          <p:cNvPr id="25" name="s3-boundary">
            <a:extLst xmlns:a="http://schemas.openxmlformats.org/drawingml/2006/main">
              <a:ext uri="{FF2B5EF4-FFF2-40B4-BE49-F238E27FC236}">
                <a16:creationId xmlns:a16="http://schemas.microsoft.com/office/drawing/2014/main" id="{634B78ED-2DBF-4F4A-997F-113C34A2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26" name="s3-lock">
            <a:extLst xmlns:a="http://schemas.openxmlformats.org/drawingml/2006/main">
              <a:ext uri="{FF2B5EF4-FFF2-40B4-BE49-F238E27FC236}">
                <a16:creationId xmlns:a16="http://schemas.microsoft.com/office/drawing/2014/main" id="{1DD0CF74-D625-4970-90F7-AAB6D740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3"/>
          </a:solidFill>
          <a:ln xmlns:a="http://schemas.openxmlformats.org/drawingml/2006/main" w="0">
            <a:solidFill>
              <a:srgbClr val="169C93"/>
            </a:solidFill>
            <a:prstDash val="solid"/>
          </a:ln>
        </p:spPr>
      </p:sp>
      <p:sp>
        <p:nvSpPr>
          <p:cNvPr id="27" name="s3-check">
            <a:extLst xmlns:a="http://schemas.openxmlformats.org/drawingml/2006/main">
              <a:ext uri="{FF2B5EF4-FFF2-40B4-BE49-F238E27FC236}">
                <a16:creationId xmlns:a16="http://schemas.microsoft.com/office/drawing/2014/main" id="{B1F66A64-B3B8-441E-89EB-1CACF98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00600"/>
            <a:ext cx="19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8" name="s3-boundary-copy">
            <a:extLst xmlns:a="http://schemas.openxmlformats.org/drawingml/2006/main">
              <a:ext uri="{FF2B5EF4-FFF2-40B4-BE49-F238E27FC236}">
                <a16:creationId xmlns:a16="http://schemas.microsoft.com/office/drawing/2014/main" id="{59E9D266-ACDA-42AE-B02C-51CB8D7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72025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08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El dato individual permanece en el establecimiento; los niveles superiores reciben únicamente información consolidada.</a:t>
            </a:r>
          </a:p>
        </p:txBody>
      </p:sp>
    </p:spTree>
    <p:extLst>
      <p:ext uri="{BB962C8B-B14F-4D97-AF65-F5344CB8AC3E}">
        <p14:creationId xmlns:p14="http://schemas.microsoft.com/office/powerpoint/2010/main" val="1527277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4">
            <a:extLst xmlns:a="http://schemas.openxmlformats.org/drawingml/2006/main">
              <a:ext uri="{FF2B5EF4-FFF2-40B4-BE49-F238E27FC236}">
                <a16:creationId xmlns:a16="http://schemas.microsoft.com/office/drawing/2014/main" id="{664BDA74-B1C6-4215-B7F2-8B3D7550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LA SOLUCIÓN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68D9059-6992-4DC5-8DF0-042C1E87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8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Una plataforma convierte captura en inteligencia sanitaria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2C321082-0558-4E3C-9FE7-63800A8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311A1B2-3247-4BE3-8347-3C9D799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4-lead">
            <a:extLst xmlns:a="http://schemas.openxmlformats.org/drawingml/2006/main">
              <a:ext uri="{FF2B5EF4-FFF2-40B4-BE49-F238E27FC236}">
                <a16:creationId xmlns:a16="http://schemas.microsoft.com/office/drawing/2014/main" id="{78F1F9A8-BED8-45C0-8DD7-0F0E68D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Cada módulo resuelve una parte del proceso, pero todos comparten reglas, catálogos y trazabilidad.</a:t>
            </a:r>
          </a:p>
        </p:txBody>
      </p:sp>
      <p:sp>
        <p:nvSpPr>
          <p:cNvPr id="6" name="rule-108-350">
            <a:extLst xmlns:a="http://schemas.openxmlformats.org/drawingml/2006/main">
              <a:ext uri="{FF2B5EF4-FFF2-40B4-BE49-F238E27FC236}">
                <a16:creationId xmlns:a16="http://schemas.microsoft.com/office/drawing/2014/main" id="{698A2552-3CF3-419A-A6ED-3D02ED42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7" name="s4-c1">
            <a:extLst xmlns:a="http://schemas.openxmlformats.org/drawingml/2006/main">
              <a:ext uri="{FF2B5EF4-FFF2-40B4-BE49-F238E27FC236}">
                <a16:creationId xmlns:a16="http://schemas.microsoft.com/office/drawing/2014/main" id="{18C0F01F-55DF-4733-8AA7-B82ABFDB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8" name="s4-c2">
            <a:extLst xmlns:a="http://schemas.openxmlformats.org/drawingml/2006/main">
              <a:ext uri="{FF2B5EF4-FFF2-40B4-BE49-F238E27FC236}">
                <a16:creationId xmlns:a16="http://schemas.microsoft.com/office/drawing/2014/main" id="{6855B306-EF8F-40B9-AA54-628CF380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9" name="s4-c3">
            <a:extLst xmlns:a="http://schemas.openxmlformats.org/drawingml/2006/main">
              <a:ext uri="{FF2B5EF4-FFF2-40B4-BE49-F238E27FC236}">
                <a16:creationId xmlns:a16="http://schemas.microsoft.com/office/drawing/2014/main" id="{0AEBD0B8-2FDA-4E6E-897A-64E55989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10" name="s4-c4">
            <a:extLst xmlns:a="http://schemas.openxmlformats.org/drawingml/2006/main">
              <a:ext uri="{FF2B5EF4-FFF2-40B4-BE49-F238E27FC236}">
                <a16:creationId xmlns:a16="http://schemas.microsoft.com/office/drawing/2014/main" id="{3584C815-D7F9-4540-83F2-536D9B7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3"/>
          </a:solidFill>
          <a:ln xmlns:a="http://schemas.openxmlformats.org/drawingml/2006/main" w="0">
            <a:solidFill>
              <a:srgbClr val="169C93"/>
            </a:solidFill>
            <a:prstDash val="solid"/>
          </a:ln>
        </p:spPr>
      </p:sp>
      <p:sp>
        <p:nvSpPr>
          <p:cNvPr id="11" name="s4-c5">
            <a:extLst xmlns:a="http://schemas.openxmlformats.org/drawingml/2006/main">
              <a:ext uri="{FF2B5EF4-FFF2-40B4-BE49-F238E27FC236}">
                <a16:creationId xmlns:a16="http://schemas.microsoft.com/office/drawing/2014/main" id="{EF005CAA-6C72-409E-9EA3-BD066E2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675"/>
          </a:solidFill>
          <a:ln xmlns:a="http://schemas.openxmlformats.org/drawingml/2006/main" w="0">
            <a:solidFill>
              <a:srgbClr val="3AA675"/>
            </a:solidFill>
            <a:prstDash val="solid"/>
          </a:ln>
        </p:spPr>
      </p:sp>
      <p:sp>
        <p:nvSpPr>
          <p:cNvPr id="12" name="s4-c6">
            <a:extLst xmlns:a="http://schemas.openxmlformats.org/drawingml/2006/main">
              <a:ext uri="{FF2B5EF4-FFF2-40B4-BE49-F238E27FC236}">
                <a16:creationId xmlns:a16="http://schemas.microsoft.com/office/drawing/2014/main" id="{5B5488FF-5C07-4365-AA74-1EB669E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83B"/>
          </a:solidFill>
          <a:ln xmlns:a="http://schemas.openxmlformats.org/drawingml/2006/main" w="0">
            <a:solidFill>
              <a:srgbClr val="E5A83B"/>
            </a:solidFill>
            <a:prstDash val="solid"/>
          </a:ln>
        </p:spPr>
      </p:sp>
      <p:sp>
        <p:nvSpPr>
          <p:cNvPr id="13" name="s4-n1">
            <a:extLst xmlns:a="http://schemas.openxmlformats.org/drawingml/2006/main">
              <a:ext uri="{FF2B5EF4-FFF2-40B4-BE49-F238E27FC236}">
                <a16:creationId xmlns:a16="http://schemas.microsoft.com/office/drawing/2014/main" id="{B3AAA8C7-6A74-4267-8CBC-08F61F9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4" name="s4-n2">
            <a:extLst xmlns:a="http://schemas.openxmlformats.org/drawingml/2006/main">
              <a:ext uri="{FF2B5EF4-FFF2-40B4-BE49-F238E27FC236}">
                <a16:creationId xmlns:a16="http://schemas.microsoft.com/office/drawing/2014/main" id="{FB16A37C-E5CF-463E-969D-115A9C7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5" name="s4-n3">
            <a:extLst xmlns:a="http://schemas.openxmlformats.org/drawingml/2006/main">
              <a:ext uri="{FF2B5EF4-FFF2-40B4-BE49-F238E27FC236}">
                <a16:creationId xmlns:a16="http://schemas.microsoft.com/office/drawing/2014/main" id="{8241ACC5-2183-4944-B930-12A1FA21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s4-n4">
            <a:extLst xmlns:a="http://schemas.openxmlformats.org/drawingml/2006/main">
              <a:ext uri="{FF2B5EF4-FFF2-40B4-BE49-F238E27FC236}">
                <a16:creationId xmlns:a16="http://schemas.microsoft.com/office/drawing/2014/main" id="{14B1D0D1-7D72-45D0-A363-91585126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7" name="s4-n5">
            <a:extLst xmlns:a="http://schemas.openxmlformats.org/drawingml/2006/main">
              <a:ext uri="{FF2B5EF4-FFF2-40B4-BE49-F238E27FC236}">
                <a16:creationId xmlns:a16="http://schemas.microsoft.com/office/drawing/2014/main" id="{13F53B56-EA66-4F40-903D-502BD11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8" name="s4-n6">
            <a:extLst xmlns:a="http://schemas.openxmlformats.org/drawingml/2006/main">
              <a:ext uri="{FF2B5EF4-FFF2-40B4-BE49-F238E27FC236}">
                <a16:creationId xmlns:a16="http://schemas.microsoft.com/office/drawing/2014/main" id="{C2AB504A-4409-40A0-BAD2-D94C0D81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099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19" name="s4-h1">
            <a:extLst xmlns:a="http://schemas.openxmlformats.org/drawingml/2006/main">
              <a:ext uri="{FF2B5EF4-FFF2-40B4-BE49-F238E27FC236}">
                <a16:creationId xmlns:a16="http://schemas.microsoft.com/office/drawing/2014/main" id="{49F94E61-7B71-49DE-B12C-A84995D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93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Capturar</a:t>
            </a:r>
          </a:p>
        </p:txBody>
      </p:sp>
      <p:sp>
        <p:nvSpPr>
          <p:cNvPr id="20" name="s4-h2">
            <a:extLst xmlns:a="http://schemas.openxmlformats.org/drawingml/2006/main">
              <a:ext uri="{FF2B5EF4-FFF2-40B4-BE49-F238E27FC236}">
                <a16:creationId xmlns:a16="http://schemas.microsoft.com/office/drawing/2014/main" id="{D709E1D7-9CB3-43CF-9004-4E10555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93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Validar</a:t>
            </a:r>
          </a:p>
        </p:txBody>
      </p:sp>
      <p:sp>
        <p:nvSpPr>
          <p:cNvPr id="21" name="s4-h3">
            <a:extLst xmlns:a="http://schemas.openxmlformats.org/drawingml/2006/main">
              <a:ext uri="{FF2B5EF4-FFF2-40B4-BE49-F238E27FC236}">
                <a16:creationId xmlns:a16="http://schemas.microsoft.com/office/drawing/2014/main" id="{8308AB1D-E420-4CC5-BC35-A455FDB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24300"/>
            <a:ext cx="106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Consolidar</a:t>
            </a:r>
          </a:p>
        </p:txBody>
      </p:sp>
      <p:sp>
        <p:nvSpPr>
          <p:cNvPr id="22" name="s4-h4">
            <a:extLst xmlns:a="http://schemas.openxmlformats.org/drawingml/2006/main">
              <a:ext uri="{FF2B5EF4-FFF2-40B4-BE49-F238E27FC236}">
                <a16:creationId xmlns:a16="http://schemas.microsoft.com/office/drawing/2014/main" id="{19CBFAF5-C566-4533-8668-DD60774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93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Aprobar</a:t>
            </a:r>
          </a:p>
        </p:txBody>
      </p:sp>
      <p:sp>
        <p:nvSpPr>
          <p:cNvPr id="23" name="s4-h5">
            <a:extLst xmlns:a="http://schemas.openxmlformats.org/drawingml/2006/main">
              <a:ext uri="{FF2B5EF4-FFF2-40B4-BE49-F238E27FC236}">
                <a16:creationId xmlns:a16="http://schemas.microsoft.com/office/drawing/2014/main" id="{3EC75A34-1C10-4B09-8AD5-FF577A0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24300"/>
            <a:ext cx="93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Analizar</a:t>
            </a:r>
          </a:p>
        </p:txBody>
      </p:sp>
      <p:sp>
        <p:nvSpPr>
          <p:cNvPr id="24" name="s4-h6">
            <a:extLst xmlns:a="http://schemas.openxmlformats.org/drawingml/2006/main">
              <a:ext uri="{FF2B5EF4-FFF2-40B4-BE49-F238E27FC236}">
                <a16:creationId xmlns:a16="http://schemas.microsoft.com/office/drawing/2014/main" id="{84F95E38-E42A-43F1-AE5E-ACB7E511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24300"/>
            <a:ext cx="93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Exportar</a:t>
            </a:r>
          </a:p>
        </p:txBody>
      </p:sp>
      <p:sp>
        <p:nvSpPr>
          <p:cNvPr id="25" name="s4-b1">
            <a:extLst xmlns:a="http://schemas.openxmlformats.org/drawingml/2006/main">
              <a:ext uri="{FF2B5EF4-FFF2-40B4-BE49-F238E27FC236}">
                <a16:creationId xmlns:a16="http://schemas.microsoft.com/office/drawing/2014/main" id="{A9F7243F-ED82-4850-9667-76FD3ED3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ITS 1 y atenciones</a:t>
            </a:r>
          </a:p>
        </p:txBody>
      </p:sp>
      <p:sp>
        <p:nvSpPr>
          <p:cNvPr id="26" name="s4-b2">
            <a:extLst xmlns:a="http://schemas.openxmlformats.org/drawingml/2006/main">
              <a:ext uri="{FF2B5EF4-FFF2-40B4-BE49-F238E27FC236}">
                <a16:creationId xmlns:a16="http://schemas.microsoft.com/office/drawing/2014/main" id="{7E920F82-2186-4229-A9EC-E0FF6D9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Reglas y alertas</a:t>
            </a:r>
          </a:p>
        </p:txBody>
      </p:sp>
      <p:sp>
        <p:nvSpPr>
          <p:cNvPr id="27" name="s4-b3">
            <a:extLst xmlns:a="http://schemas.openxmlformats.org/drawingml/2006/main">
              <a:ext uri="{FF2B5EF4-FFF2-40B4-BE49-F238E27FC236}">
                <a16:creationId xmlns:a16="http://schemas.microsoft.com/office/drawing/2014/main" id="{BBF5BF88-993F-4674-9B25-74FCC25C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ITS 2 por nivel</a:t>
            </a:r>
          </a:p>
        </p:txBody>
      </p:sp>
      <p:sp>
        <p:nvSpPr>
          <p:cNvPr id="28" name="s4-b4">
            <a:extLst xmlns:a="http://schemas.openxmlformats.org/drawingml/2006/main">
              <a:ext uri="{FF2B5EF4-FFF2-40B4-BE49-F238E27FC236}">
                <a16:creationId xmlns:a16="http://schemas.microsoft.com/office/drawing/2014/main" id="{C19192E2-D988-43BD-973B-9F0FA0C2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Flujo auditable</a:t>
            </a:r>
          </a:p>
        </p:txBody>
      </p:sp>
      <p:sp>
        <p:nvSpPr>
          <p:cNvPr id="29" name="s4-b5">
            <a:extLst xmlns:a="http://schemas.openxmlformats.org/drawingml/2006/main">
              <a:ext uri="{FF2B5EF4-FFF2-40B4-BE49-F238E27FC236}">
                <a16:creationId xmlns:a16="http://schemas.microsoft.com/office/drawing/2014/main" id="{AB20A80C-58A5-4072-B03C-78DE1448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Mapas y tableros</a:t>
            </a:r>
          </a:p>
        </p:txBody>
      </p:sp>
      <p:sp>
        <p:nvSpPr>
          <p:cNvPr id="30" name="s4-b6">
            <a:extLst xmlns:a="http://schemas.openxmlformats.org/drawingml/2006/main">
              <a:ext uri="{FF2B5EF4-FFF2-40B4-BE49-F238E27FC236}">
                <a16:creationId xmlns:a16="http://schemas.microsoft.com/office/drawing/2014/main" id="{DB492B23-F87F-4103-81C8-60552E87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62450"/>
            <a:ext cx="10287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Excel y PDF</a:t>
            </a:r>
          </a:p>
        </p:txBody>
      </p:sp>
    </p:spTree>
    <p:extLst>
      <p:ext uri="{BB962C8B-B14F-4D97-AF65-F5344CB8AC3E}">
        <p14:creationId xmlns:p14="http://schemas.microsoft.com/office/powerpoint/2010/main" val="767155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5">
            <a:extLst xmlns:a="http://schemas.openxmlformats.org/drawingml/2006/main">
              <a:ext uri="{FF2B5EF4-FFF2-40B4-BE49-F238E27FC236}">
                <a16:creationId xmlns:a16="http://schemas.microsoft.com/office/drawing/2014/main" id="{62EBFCBA-2549-4072-98FF-B80011AF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CONFIANZA INSTITUCIONAL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8B5D635-0593-474F-92C4-9357B7DD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Privacidad y control están incorporados desde el diseño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8CFD6A9B-5088-4FF8-B55C-0C1F37D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DA8D452-BD76-40E4-916D-5B543655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5-lead">
            <a:extLst xmlns:a="http://schemas.openxmlformats.org/drawingml/2006/main">
              <a:ext uri="{FF2B5EF4-FFF2-40B4-BE49-F238E27FC236}">
                <a16:creationId xmlns:a16="http://schemas.microsoft.com/office/drawing/2014/main" id="{CB5133B9-2861-4527-B05C-5CABB4F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767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La plataforma separa el dato clínico individual de la información agregada usada para gestión y decisión.</a:t>
            </a:r>
          </a:p>
        </p:txBody>
      </p:sp>
      <p:sp>
        <p:nvSpPr>
          <p:cNvPr id="6" name="arrow-580-350">
            <a:extLst xmlns:a="http://schemas.openxmlformats.org/drawingml/2006/main">
              <a:ext uri="{FF2B5EF4-FFF2-40B4-BE49-F238E27FC236}">
                <a16:creationId xmlns:a16="http://schemas.microsoft.com/office/drawing/2014/main" id="{FB6A46EE-6552-498F-AACB-D5178BD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9144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7" name="s5-left-bg">
            <a:extLst xmlns:a="http://schemas.openxmlformats.org/drawingml/2006/main">
              <a:ext uri="{FF2B5EF4-FFF2-40B4-BE49-F238E27FC236}">
                <a16:creationId xmlns:a16="http://schemas.microsoft.com/office/drawing/2014/main" id="{54156E61-9AC6-4775-B1E5-6CA670F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5029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8" name="s5-right-bg">
            <a:extLst xmlns:a="http://schemas.openxmlformats.org/drawingml/2006/main">
              <a:ext uri="{FF2B5EF4-FFF2-40B4-BE49-F238E27FC236}">
                <a16:creationId xmlns:a16="http://schemas.microsoft.com/office/drawing/2014/main" id="{FFA7B173-41F0-4351-B9DE-C728952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724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9" name="s5-left-label">
            <a:extLst xmlns:a="http://schemas.openxmlformats.org/drawingml/2006/main">
              <a:ext uri="{FF2B5EF4-FFF2-40B4-BE49-F238E27FC236}">
                <a16:creationId xmlns:a16="http://schemas.microsoft.com/office/drawing/2014/main" id="{4FEFAAFC-C87E-4F6F-9C5D-F2981C0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B7C6"/>
                </a:solidFill>
                <a:latin typeface="Arial"/>
                <a:ea typeface="Arial"/>
                <a:cs typeface="Arial"/>
              </a:defRPr>
            </a:pPr>
            <a:r>
              <a:t>DATO INDIVIDUAL</a:t>
            </a:r>
          </a:p>
        </p:txBody>
      </p:sp>
      <p:sp>
        <p:nvSpPr>
          <p:cNvPr id="10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C8EABD5D-24A0-4A1D-B8B0-E9A9D24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905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Permanece en el establecimiento</a:t>
            </a:r>
          </a:p>
        </p:txBody>
      </p:sp>
      <p:sp>
        <p:nvSpPr>
          <p:cNvPr id="11" name="s5-left-body">
            <a:extLst xmlns:a="http://schemas.openxmlformats.org/drawingml/2006/main">
              <a:ext uri="{FF2B5EF4-FFF2-40B4-BE49-F238E27FC236}">
                <a16:creationId xmlns:a16="http://schemas.microsoft.com/office/drawing/2014/main" id="{4CCA5F2D-A66D-4B3C-93DB-C2A4AC5B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7EC"/>
                </a:solidFill>
                <a:latin typeface="Arial"/>
                <a:ea typeface="Arial"/>
                <a:cs typeface="Arial"/>
              </a:defRPr>
            </a:pPr>
            <a:r>
              <a:t>Expediente, paciente y atención solo dentro del alcance autorizado.</a:t>
            </a:r>
          </a:p>
        </p:txBody>
      </p:sp>
      <p:sp>
        <p:nvSpPr>
          <p:cNvPr id="12" name="s5-right-label">
            <a:extLst xmlns:a="http://schemas.openxmlformats.org/drawingml/2006/main">
              <a:ext uri="{FF2B5EF4-FFF2-40B4-BE49-F238E27FC236}">
                <a16:creationId xmlns:a16="http://schemas.microsoft.com/office/drawing/2014/main" id="{B4BF86A9-3F57-4605-A246-7528EB0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INFORMACIÓN CONSOLIDADA</a:t>
            </a:r>
          </a:p>
        </p:txBody>
      </p:sp>
      <p:sp>
        <p:nvSpPr>
          <p:cNvPr id="13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A07B4184-176B-4060-ACCD-F2854546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3905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Fluye por municipio, región y nivel central</a:t>
            </a:r>
          </a:p>
        </p:txBody>
      </p:sp>
      <p:sp>
        <p:nvSpPr>
          <p:cNvPr id="14" name="s5-right-body">
            <a:extLst xmlns:a="http://schemas.openxmlformats.org/drawingml/2006/main">
              <a:ext uri="{FF2B5EF4-FFF2-40B4-BE49-F238E27FC236}">
                <a16:creationId xmlns:a16="http://schemas.microsoft.com/office/drawing/2014/main" id="{9223305B-1B13-4F89-A46E-C83AF89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3905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Totales, tendencias, mapas agregados y estados de reporte.</a:t>
            </a:r>
          </a:p>
        </p:txBody>
      </p:sp>
      <p:sp>
        <p:nvSpPr>
          <p:cNvPr id="15" name="s5-audit-bg">
            <a:extLst xmlns:a="http://schemas.openxmlformats.org/drawingml/2006/main">
              <a:ext uri="{FF2B5EF4-FFF2-40B4-BE49-F238E27FC236}">
                <a16:creationId xmlns:a16="http://schemas.microsoft.com/office/drawing/2014/main" id="{C5B50470-BDB2-405B-B5F9-7103DBEF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575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6" name="s5-audit">
            <a:extLst xmlns:a="http://schemas.openxmlformats.org/drawingml/2006/main">
              <a:ext uri="{FF2B5EF4-FFF2-40B4-BE49-F238E27FC236}">
                <a16:creationId xmlns:a16="http://schemas.microsoft.com/office/drawing/2014/main" id="{517A1477-3747-4E75-9BF3-141EC87B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86400"/>
            <a:ext cx="537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Toda corrección, exportación, aprobación y reapertura queda auditada.</a:t>
            </a:r>
          </a:p>
        </p:txBody>
      </p:sp>
    </p:spTree>
    <p:extLst>
      <p:ext uri="{BB962C8B-B14F-4D97-AF65-F5344CB8AC3E}">
        <p14:creationId xmlns:p14="http://schemas.microsoft.com/office/powerpoint/2010/main" val="1056255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6">
            <a:extLst xmlns:a="http://schemas.openxmlformats.org/drawingml/2006/main">
              <a:ext uri="{FF2B5EF4-FFF2-40B4-BE49-F238E27FC236}">
                <a16:creationId xmlns:a16="http://schemas.microsoft.com/office/drawing/2014/main" id="{47DC0EF3-83D6-41EB-8DA7-D3AC9830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INTELIGENCIA TERRITORIAL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06C3FFA-4BA3-4606-B4C2-B706E3C7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13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Productividad y situación territorial son lecturas distintas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65F85D94-8998-4018-BC2A-3F1DABF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D103430-E672-486E-9947-AD3E7800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6-lead">
            <a:extLst xmlns:a="http://schemas.openxmlformats.org/drawingml/2006/main">
              <a:ext uri="{FF2B5EF4-FFF2-40B4-BE49-F238E27FC236}">
                <a16:creationId xmlns:a16="http://schemas.microsoft.com/office/drawing/2014/main" id="{DF3A9146-3A0D-4463-866E-322F5C41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1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Separar captación de procedencia permite interpretar mejor dónde se atiende y dónde se origina el evento.</a:t>
            </a:r>
          </a:p>
        </p:txBody>
      </p:sp>
      <p:sp>
        <p:nvSpPr>
          <p:cNvPr id="6" name="s6-card1">
            <a:extLst xmlns:a="http://schemas.openxmlformats.org/drawingml/2006/main">
              <a:ext uri="{FF2B5EF4-FFF2-40B4-BE49-F238E27FC236}">
                <a16:creationId xmlns:a16="http://schemas.microsoft.com/office/drawing/2014/main" id="{F3A5CCA5-E35A-42E9-AE47-052FC5E9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4953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7" name="s6-card2">
            <a:extLst xmlns:a="http://schemas.openxmlformats.org/drawingml/2006/main">
              <a:ext uri="{FF2B5EF4-FFF2-40B4-BE49-F238E27FC236}">
                <a16:creationId xmlns:a16="http://schemas.microsoft.com/office/drawing/2014/main" id="{2BBC315B-8851-4AB6-8EFD-C08F743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5067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8" name="s6-label1">
            <a:extLst xmlns:a="http://schemas.openxmlformats.org/drawingml/2006/main">
              <a:ext uri="{FF2B5EF4-FFF2-40B4-BE49-F238E27FC236}">
                <a16:creationId xmlns:a16="http://schemas.microsoft.com/office/drawing/2014/main" id="{E334CE96-C4D3-494E-A098-47B9C16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MAPA 1</a:t>
            </a:r>
          </a:p>
        </p:txBody>
      </p:sp>
      <p:sp>
        <p:nvSpPr>
          <p:cNvPr id="9" name="s6-title1">
            <a:extLst xmlns:a="http://schemas.openxmlformats.org/drawingml/2006/main">
              <a:ext uri="{FF2B5EF4-FFF2-40B4-BE49-F238E27FC236}">
                <a16:creationId xmlns:a16="http://schemas.microsoft.com/office/drawing/2014/main" id="{E0FC58CA-115F-4E3C-BEBB-6018BB4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Producción total</a:t>
            </a:r>
          </a:p>
        </p:txBody>
      </p:sp>
      <p:sp>
        <p:nvSpPr>
          <p:cNvPr id="10" name="s6-body1">
            <a:extLst xmlns:a="http://schemas.openxmlformats.org/drawingml/2006/main">
              <a:ext uri="{FF2B5EF4-FFF2-40B4-BE49-F238E27FC236}">
                <a16:creationId xmlns:a16="http://schemas.microsoft.com/office/drawing/2014/main" id="{CCDF5807-A1E8-4ED0-94EF-A6894B99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Responde: “¿Cuánto atendió este establecimiento?”</a:t>
            </a:r>
          </a:p>
        </p:txBody>
      </p:sp>
      <p:sp>
        <p:nvSpPr>
          <p:cNvPr id="11" name="s6-note1">
            <a:extLst xmlns:a="http://schemas.openxmlformats.org/drawingml/2006/main">
              <a:ext uri="{FF2B5EF4-FFF2-40B4-BE49-F238E27FC236}">
                <a16:creationId xmlns:a16="http://schemas.microsoft.com/office/drawing/2014/main" id="{28939A61-21BA-44F9-8312-6D00308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1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Incluye pacientes del AGI y procedencias externas.</a:t>
            </a:r>
          </a:p>
        </p:txBody>
      </p:sp>
      <p:sp>
        <p:nvSpPr>
          <p:cNvPr id="12" name="s6-label2">
            <a:extLst xmlns:a="http://schemas.openxmlformats.org/drawingml/2006/main">
              <a:ext uri="{FF2B5EF4-FFF2-40B4-BE49-F238E27FC236}">
                <a16:creationId xmlns:a16="http://schemas.microsoft.com/office/drawing/2014/main" id="{C705D186-B296-4721-A4A9-718F1A2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MAPA 2</a:t>
            </a:r>
          </a:p>
        </p:txBody>
      </p:sp>
      <p:sp>
        <p:nvSpPr>
          <p:cNvPr id="13" name="s6-title2">
            <a:extLst xmlns:a="http://schemas.openxmlformats.org/drawingml/2006/main">
              <a:ext uri="{FF2B5EF4-FFF2-40B4-BE49-F238E27FC236}">
                <a16:creationId xmlns:a16="http://schemas.microsoft.com/office/drawing/2014/main" id="{55BA8D95-BF6E-4EA2-8B81-A5466FE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Cobertura real / AGI</a:t>
            </a:r>
          </a:p>
        </p:txBody>
      </p:sp>
      <p:sp>
        <p:nvSpPr>
          <p:cNvPr id="14" name="s6-body2">
            <a:extLst xmlns:a="http://schemas.openxmlformats.org/drawingml/2006/main">
              <a:ext uri="{FF2B5EF4-FFF2-40B4-BE49-F238E27FC236}">
                <a16:creationId xmlns:a16="http://schemas.microsoft.com/office/drawing/2014/main" id="{2A847320-F5D5-4E55-8158-7EF161B1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Responde: “¿Qué ocurre en el territorio que le corresponde cubrir?”</a:t>
            </a:r>
          </a:p>
        </p:txBody>
      </p:sp>
      <p:sp>
        <p:nvSpPr>
          <p:cNvPr id="15" name="s6-note2">
            <a:extLst xmlns:a="http://schemas.openxmlformats.org/drawingml/2006/main">
              <a:ext uri="{FF2B5EF4-FFF2-40B4-BE49-F238E27FC236}">
                <a16:creationId xmlns:a16="http://schemas.microsoft.com/office/drawing/2014/main" id="{71A7E33A-508D-43B1-92DD-A8B89A0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Muestra únicamente los casos pertenecientes a su área.</a:t>
            </a:r>
          </a:p>
        </p:txBody>
      </p:sp>
      <p:sp>
        <p:nvSpPr>
          <p:cNvPr id="16" name="s6-summary-bg">
            <a:extLst xmlns:a="http://schemas.openxmlformats.org/drawingml/2006/main">
              <a:ext uri="{FF2B5EF4-FFF2-40B4-BE49-F238E27FC236}">
                <a16:creationId xmlns:a16="http://schemas.microsoft.com/office/drawing/2014/main" id="{E26C09C1-47E6-4E8E-81E4-FDF13C1C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784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17" name="s6-summary">
            <a:extLst xmlns:a="http://schemas.openxmlformats.org/drawingml/2006/main">
              <a:ext uri="{FF2B5EF4-FFF2-40B4-BE49-F238E27FC236}">
                <a16:creationId xmlns:a16="http://schemas.microsoft.com/office/drawing/2014/main" id="{75C131D5-3CF9-4F42-9F5E-61F23218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Resultado: decisiones operativas y epidemiológicas con el contexto correcto.</a:t>
            </a:r>
          </a:p>
        </p:txBody>
      </p:sp>
    </p:spTree>
    <p:extLst>
      <p:ext uri="{BB962C8B-B14F-4D97-AF65-F5344CB8AC3E}">
        <p14:creationId xmlns:p14="http://schemas.microsoft.com/office/powerpoint/2010/main" val="882677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7">
            <a:extLst xmlns:a="http://schemas.openxmlformats.org/drawingml/2006/main">
              <a:ext uri="{FF2B5EF4-FFF2-40B4-BE49-F238E27FC236}">
                <a16:creationId xmlns:a16="http://schemas.microsoft.com/office/drawing/2014/main" id="{F8ECD649-2FEF-4088-8653-8B6C57D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IMPLEMENTACIÓN PROGRESIVA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493759B-A6FC-41DF-A729-AFEFEF89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Puerto Cortés reduce el riesgo del piloto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E5AF4A62-5CEC-4324-9652-5B7023A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E336A796-CF92-4343-A490-24078DA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7-lead">
            <a:extLst xmlns:a="http://schemas.openxmlformats.org/drawingml/2006/main">
              <a:ext uri="{FF2B5EF4-FFF2-40B4-BE49-F238E27FC236}">
                <a16:creationId xmlns:a16="http://schemas.microsoft.com/office/drawing/2014/main" id="{5566E47C-799A-46CB-856A-4B8A0CD5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El piloto comienza con una estructura acotada y deja lista la ruta de expansión.</a:t>
            </a:r>
          </a:p>
        </p:txBody>
      </p:sp>
      <p:sp>
        <p:nvSpPr>
          <p:cNvPr id="6" name="arrow-352-330">
            <a:extLst xmlns:a="http://schemas.openxmlformats.org/drawingml/2006/main">
              <a:ext uri="{FF2B5EF4-FFF2-40B4-BE49-F238E27FC236}">
                <a16:creationId xmlns:a16="http://schemas.microsoft.com/office/drawing/2014/main" id="{3F5AE21A-4640-4D39-B960-6F11A7C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7" name="arrow-752-330">
            <a:extLst xmlns:a="http://schemas.openxmlformats.org/drawingml/2006/main">
              <a:ext uri="{FF2B5EF4-FFF2-40B4-BE49-F238E27FC236}">
                <a16:creationId xmlns:a16="http://schemas.microsoft.com/office/drawing/2014/main" id="{5DCAE911-DB5B-482A-82A2-78249F6B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8" name="s7-stage1">
            <a:extLst xmlns:a="http://schemas.openxmlformats.org/drawingml/2006/main">
              <a:ext uri="{FF2B5EF4-FFF2-40B4-BE49-F238E27FC236}">
                <a16:creationId xmlns:a16="http://schemas.microsoft.com/office/drawing/2014/main" id="{036A1FD6-9755-4181-857E-AB971B2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857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9" name="s7-stage2">
            <a:extLst xmlns:a="http://schemas.openxmlformats.org/drawingml/2006/main">
              <a:ext uri="{FF2B5EF4-FFF2-40B4-BE49-F238E27FC236}">
                <a16:creationId xmlns:a16="http://schemas.microsoft.com/office/drawing/2014/main" id="{825F2403-73AD-4604-882B-CEEA1EB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2952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0" name="s7-stage3">
            <a:extLst xmlns:a="http://schemas.openxmlformats.org/drawingml/2006/main">
              <a:ext uri="{FF2B5EF4-FFF2-40B4-BE49-F238E27FC236}">
                <a16:creationId xmlns:a16="http://schemas.microsoft.com/office/drawing/2014/main" id="{B08E06F5-42B1-46AA-B5FB-0EE5631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143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11" name="s7-l1">
            <a:extLst xmlns:a="http://schemas.openxmlformats.org/drawingml/2006/main">
              <a:ext uri="{FF2B5EF4-FFF2-40B4-BE49-F238E27FC236}">
                <a16:creationId xmlns:a16="http://schemas.microsoft.com/office/drawing/2014/main" id="{841D2CC2-FE91-4449-98A8-0D161E96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B7C6"/>
                </a:solidFill>
                <a:latin typeface="Arial"/>
                <a:ea typeface="Arial"/>
                <a:cs typeface="Arial"/>
              </a:defRPr>
            </a:pPr>
            <a:r>
              <a:t>PILOTO</a:t>
            </a:r>
          </a:p>
        </p:txBody>
      </p:sp>
      <p:sp>
        <p:nvSpPr>
          <p:cNvPr id="12" name="s7-h1">
            <a:extLst xmlns:a="http://schemas.openxmlformats.org/drawingml/2006/main">
              <a:ext uri="{FF2B5EF4-FFF2-40B4-BE49-F238E27FC236}">
                <a16:creationId xmlns:a16="http://schemas.microsoft.com/office/drawing/2014/main" id="{4654EFD5-344A-4601-A8C2-D05550E6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Puerto Cortés</a:t>
            </a:r>
          </a:p>
        </p:txBody>
      </p:sp>
      <p:sp>
        <p:nvSpPr>
          <p:cNvPr id="13" name="s7-b1">
            <a:extLst xmlns:a="http://schemas.openxmlformats.org/drawingml/2006/main">
              <a:ext uri="{FF2B5EF4-FFF2-40B4-BE49-F238E27FC236}">
                <a16:creationId xmlns:a16="http://schemas.microsoft.com/office/drawing/2014/main" id="{E69395FF-00F3-4AED-B642-DE12752B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95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9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7EC"/>
                </a:solidFill>
                <a:latin typeface="Arial"/>
                <a:ea typeface="Arial"/>
                <a:cs typeface="Arial"/>
              </a:defRPr>
            </a:pPr>
            <a:r>
              <a:t>12 establecimientos
Flujo municipal completo</a:t>
            </a:r>
          </a:p>
        </p:txBody>
      </p:sp>
      <p:sp>
        <p:nvSpPr>
          <p:cNvPr id="14" name="s7-l2">
            <a:extLst xmlns:a="http://schemas.openxmlformats.org/drawingml/2006/main">
              <a:ext uri="{FF2B5EF4-FFF2-40B4-BE49-F238E27FC236}">
                <a16:creationId xmlns:a16="http://schemas.microsoft.com/office/drawing/2014/main" id="{122EFF6E-361C-4E41-97AD-DE42966A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ESCALA REGIONAL</a:t>
            </a:r>
          </a:p>
        </p:txBody>
      </p:sp>
      <p:sp>
        <p:nvSpPr>
          <p:cNvPr id="15" name="s7-h2">
            <a:extLst xmlns:a="http://schemas.openxmlformats.org/drawingml/2006/main">
              <a:ext uri="{FF2B5EF4-FFF2-40B4-BE49-F238E27FC236}">
                <a16:creationId xmlns:a16="http://schemas.microsoft.com/office/drawing/2014/main" id="{A6027F03-D5E3-4324-8EFC-C119C2C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Cortés</a:t>
            </a:r>
          </a:p>
        </p:txBody>
      </p:sp>
      <p:sp>
        <p:nvSpPr>
          <p:cNvPr id="16" name="s7-b2">
            <a:extLst xmlns:a="http://schemas.openxmlformats.org/drawingml/2006/main">
              <a:ext uri="{FF2B5EF4-FFF2-40B4-BE49-F238E27FC236}">
                <a16:creationId xmlns:a16="http://schemas.microsoft.com/office/drawing/2014/main" id="{BB78A158-1C16-49CA-B01C-371C173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2095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Más municipios
Consolidado regional</a:t>
            </a:r>
          </a:p>
        </p:txBody>
      </p:sp>
      <p:sp>
        <p:nvSpPr>
          <p:cNvPr id="17" name="s7-l3">
            <a:extLst xmlns:a="http://schemas.openxmlformats.org/drawingml/2006/main">
              <a:ext uri="{FF2B5EF4-FFF2-40B4-BE49-F238E27FC236}">
                <a16:creationId xmlns:a16="http://schemas.microsoft.com/office/drawing/2014/main" id="{54BC0AB9-2AB3-4F3E-8540-14A8B6E9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ESCALA NACIONAL</a:t>
            </a:r>
          </a:p>
        </p:txBody>
      </p:sp>
      <p:sp>
        <p:nvSpPr>
          <p:cNvPr id="18" name="s7-h3">
            <a:extLst xmlns:a="http://schemas.openxmlformats.org/drawingml/2006/main">
              <a:ext uri="{FF2B5EF4-FFF2-40B4-BE49-F238E27FC236}">
                <a16:creationId xmlns:a16="http://schemas.microsoft.com/office/drawing/2014/main" id="{50C42446-BBD8-4DFC-8784-7592796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Honduras</a:t>
            </a:r>
          </a:p>
        </p:txBody>
      </p:sp>
      <p:sp>
        <p:nvSpPr>
          <p:cNvPr id="19" name="s7-b3">
            <a:extLst xmlns:a="http://schemas.openxmlformats.org/drawingml/2006/main">
              <a:ext uri="{FF2B5EF4-FFF2-40B4-BE49-F238E27FC236}">
                <a16:creationId xmlns:a16="http://schemas.microsoft.com/office/drawing/2014/main" id="{DDFE8C30-AF09-49F2-A49B-141764C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228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18 departamentos como base
Consolidado nacional</a:t>
            </a:r>
          </a:p>
        </p:txBody>
      </p:sp>
      <p:sp>
        <p:nvSpPr>
          <p:cNvPr id="20" name="s7-summary">
            <a:extLst xmlns:a="http://schemas.openxmlformats.org/drawingml/2006/main">
              <a:ext uri="{FF2B5EF4-FFF2-40B4-BE49-F238E27FC236}">
                <a16:creationId xmlns:a16="http://schemas.microsoft.com/office/drawing/2014/main" id="{27E798A9-9882-4AAA-86BB-15FF0AD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Se valida primero el proceso real; luego se amplía territorio, usuarios y volumen.</a:t>
            </a:r>
          </a:p>
        </p:txBody>
      </p:sp>
    </p:spTree>
    <p:extLst>
      <p:ext uri="{BB962C8B-B14F-4D97-AF65-F5344CB8AC3E}">
        <p14:creationId xmlns:p14="http://schemas.microsoft.com/office/powerpoint/2010/main" val="1039898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8">
            <a:extLst xmlns:a="http://schemas.openxmlformats.org/drawingml/2006/main">
              <a:ext uri="{FF2B5EF4-FFF2-40B4-BE49-F238E27FC236}">
                <a16:creationId xmlns:a16="http://schemas.microsoft.com/office/drawing/2014/main" id="{C8B967E6-09BA-4DA2-8121-091E432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VALOR PÚBLICO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31BFB7F-C918-4B59-846B-98A1EA9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3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Las autoridades ganan visibilidad, calidad y respuesta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B4669595-3F17-4F7C-9637-29C88A5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553C174-016A-4A2A-BC9C-C49FF46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8-c1">
            <a:extLst xmlns:a="http://schemas.openxmlformats.org/drawingml/2006/main">
              <a:ext uri="{FF2B5EF4-FFF2-40B4-BE49-F238E27FC236}">
                <a16:creationId xmlns:a16="http://schemas.microsoft.com/office/drawing/2014/main" id="{CA59EDED-058B-412B-A9D4-4D4A1AC7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124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6" name="s8-c2">
            <a:extLst xmlns:a="http://schemas.openxmlformats.org/drawingml/2006/main">
              <a:ext uri="{FF2B5EF4-FFF2-40B4-BE49-F238E27FC236}">
                <a16:creationId xmlns:a16="http://schemas.microsoft.com/office/drawing/2014/main" id="{1597231B-EDDB-420B-8183-5FFCF40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7" name="s8-c3">
            <a:extLst xmlns:a="http://schemas.openxmlformats.org/drawingml/2006/main">
              <a:ext uri="{FF2B5EF4-FFF2-40B4-BE49-F238E27FC236}">
                <a16:creationId xmlns:a16="http://schemas.microsoft.com/office/drawing/2014/main" id="{697BDF4B-22C1-4C9E-BA9E-DC23628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5124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8" name="s8-c4">
            <a:extLst xmlns:a="http://schemas.openxmlformats.org/drawingml/2006/main">
              <a:ext uri="{FF2B5EF4-FFF2-40B4-BE49-F238E27FC236}">
                <a16:creationId xmlns:a16="http://schemas.microsoft.com/office/drawing/2014/main" id="{A62EA527-E819-4C67-9F78-5AE7F6F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9" name="s8-n1">
            <a:extLst xmlns:a="http://schemas.openxmlformats.org/drawingml/2006/main">
              <a:ext uri="{FF2B5EF4-FFF2-40B4-BE49-F238E27FC236}">
                <a16:creationId xmlns:a16="http://schemas.microsoft.com/office/drawing/2014/main" id="{F94B0235-D6A2-4ED0-8DD2-0175527C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8-h1">
            <a:extLst xmlns:a="http://schemas.openxmlformats.org/drawingml/2006/main">
              <a:ext uri="{FF2B5EF4-FFF2-40B4-BE49-F238E27FC236}">
                <a16:creationId xmlns:a16="http://schemas.microsoft.com/office/drawing/2014/main" id="{FF0E1835-D782-4A27-931A-52BCB6F1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Información oportuna</a:t>
            </a:r>
          </a:p>
        </p:txBody>
      </p:sp>
      <p:sp>
        <p:nvSpPr>
          <p:cNvPr id="11" name="s8-b1">
            <a:extLst xmlns:a="http://schemas.openxmlformats.org/drawingml/2006/main">
              <a:ext uri="{FF2B5EF4-FFF2-40B4-BE49-F238E27FC236}">
                <a16:creationId xmlns:a16="http://schemas.microsoft.com/office/drawing/2014/main" id="{4E4908AA-7E77-413D-9304-1DA0562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0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Seguimiento del estado de cada reporte y cierre por nivel.</a:t>
            </a:r>
          </a:p>
        </p:txBody>
      </p:sp>
      <p:sp>
        <p:nvSpPr>
          <p:cNvPr id="12" name="s8-n2">
            <a:extLst xmlns:a="http://schemas.openxmlformats.org/drawingml/2006/main">
              <a:ext uri="{FF2B5EF4-FFF2-40B4-BE49-F238E27FC236}">
                <a16:creationId xmlns:a16="http://schemas.microsoft.com/office/drawing/2014/main" id="{D97BF361-13B5-4525-A91F-30D9EAFE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8-h2">
            <a:extLst xmlns:a="http://schemas.openxmlformats.org/drawingml/2006/main">
              <a:ext uri="{FF2B5EF4-FFF2-40B4-BE49-F238E27FC236}">
                <a16:creationId xmlns:a16="http://schemas.microsoft.com/office/drawing/2014/main" id="{CE5EBC2C-F735-40FB-BB59-786D2CB3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Mayor calidad del dato</a:t>
            </a:r>
          </a:p>
        </p:txBody>
      </p:sp>
      <p:sp>
        <p:nvSpPr>
          <p:cNvPr id="14" name="s8-b2">
            <a:extLst xmlns:a="http://schemas.openxmlformats.org/drawingml/2006/main">
              <a:ext uri="{FF2B5EF4-FFF2-40B4-BE49-F238E27FC236}">
                <a16:creationId xmlns:a16="http://schemas.microsoft.com/office/drawing/2014/main" id="{A69C2363-020E-4A3C-8BA1-99615FE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489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Validaciones, alertas y devoluciones con observaciones trazables.</a:t>
            </a:r>
          </a:p>
        </p:txBody>
      </p:sp>
      <p:sp>
        <p:nvSpPr>
          <p:cNvPr id="15" name="s8-n3">
            <a:extLst xmlns:a="http://schemas.openxmlformats.org/drawingml/2006/main">
              <a:ext uri="{FF2B5EF4-FFF2-40B4-BE49-F238E27FC236}">
                <a16:creationId xmlns:a16="http://schemas.microsoft.com/office/drawing/2014/main" id="{EAFFBFE6-69A4-4D32-A267-FBA3D8E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8-h3">
            <a:extLst xmlns:a="http://schemas.openxmlformats.org/drawingml/2006/main">
              <a:ext uri="{FF2B5EF4-FFF2-40B4-BE49-F238E27FC236}">
                <a16:creationId xmlns:a16="http://schemas.microsoft.com/office/drawing/2014/main" id="{13EDACCD-CB52-4462-94DD-67B703E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Lectura territorial</a:t>
            </a:r>
          </a:p>
        </p:txBody>
      </p:sp>
      <p:sp>
        <p:nvSpPr>
          <p:cNvPr id="17" name="s8-b3">
            <a:extLst xmlns:a="http://schemas.openxmlformats.org/drawingml/2006/main">
              <a:ext uri="{FF2B5EF4-FFF2-40B4-BE49-F238E27FC236}">
                <a16:creationId xmlns:a16="http://schemas.microsoft.com/office/drawing/2014/main" id="{BCE06908-1447-425B-BAED-F42F701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4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Mapas de captación, procedencia y cobertura real.</a:t>
            </a:r>
          </a:p>
        </p:txBody>
      </p:sp>
      <p:sp>
        <p:nvSpPr>
          <p:cNvPr id="18" name="s8-n4">
            <a:extLst xmlns:a="http://schemas.openxmlformats.org/drawingml/2006/main">
              <a:ext uri="{FF2B5EF4-FFF2-40B4-BE49-F238E27FC236}">
                <a16:creationId xmlns:a16="http://schemas.microsoft.com/office/drawing/2014/main" id="{3C77B653-D3A4-41C5-AF95-1734E40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s8-h4">
            <a:extLst xmlns:a="http://schemas.openxmlformats.org/drawingml/2006/main">
              <a:ext uri="{FF2B5EF4-FFF2-40B4-BE49-F238E27FC236}">
                <a16:creationId xmlns:a16="http://schemas.microsoft.com/office/drawing/2014/main" id="{530EDCE4-696D-4685-A5DF-A64F052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Rendición de cuentas</a:t>
            </a:r>
          </a:p>
        </p:txBody>
      </p:sp>
      <p:sp>
        <p:nvSpPr>
          <p:cNvPr id="20" name="s8-b4">
            <a:extLst xmlns:a="http://schemas.openxmlformats.org/drawingml/2006/main">
              <a:ext uri="{FF2B5EF4-FFF2-40B4-BE49-F238E27FC236}">
                <a16:creationId xmlns:a16="http://schemas.microsoft.com/office/drawing/2014/main" id="{67CC5244-0879-4B22-B828-BEC2FCE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Versiones, auditoría y exportaciones oficiales en Excel y PDF.</a:t>
            </a:r>
          </a:p>
        </p:txBody>
      </p:sp>
    </p:spTree>
    <p:extLst>
      <p:ext uri="{BB962C8B-B14F-4D97-AF65-F5344CB8AC3E}">
        <p14:creationId xmlns:p14="http://schemas.microsoft.com/office/powerpoint/2010/main" val="1249419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9">
            <a:extLst xmlns:a="http://schemas.openxmlformats.org/drawingml/2006/main">
              <a:ext uri="{FF2B5EF4-FFF2-40B4-BE49-F238E27FC236}">
                <a16:creationId xmlns:a16="http://schemas.microsoft.com/office/drawing/2014/main" id="{D0945FBD-043C-4C2B-BA82-A2A9D25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SOSTENIBILIDAD TÉCNICA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E632FCB-C8C6-4614-9226-5B9471E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La arquitectura escala sin sobredimensionar el piloto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29B93EEB-F541-42E8-89F0-C12E15C2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3103BDEE-E672-4258-B590-E64A7B57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9-lead">
            <a:extLst xmlns:a="http://schemas.openxmlformats.org/drawingml/2006/main">
              <a:ext uri="{FF2B5EF4-FFF2-40B4-BE49-F238E27FC236}">
                <a16:creationId xmlns:a16="http://schemas.microsoft.com/office/drawing/2014/main" id="{35A0E5A5-C6B0-4610-B51B-4399C67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Se propone un monolito modular: más simple de operar hoy y preparado para crecer mañana.</a:t>
            </a:r>
          </a:p>
        </p:txBody>
      </p:sp>
      <p:sp>
        <p:nvSpPr>
          <p:cNvPr id="6" name="arrow-322-330">
            <a:extLst xmlns:a="http://schemas.openxmlformats.org/drawingml/2006/main">
              <a:ext uri="{FF2B5EF4-FFF2-40B4-BE49-F238E27FC236}">
                <a16:creationId xmlns:a16="http://schemas.microsoft.com/office/drawing/2014/main" id="{3EB024A2-F074-4EBD-9A5E-3BD11C1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838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7" name="arrow-682-330">
            <a:extLst xmlns:a="http://schemas.openxmlformats.org/drawingml/2006/main">
              <a:ext uri="{FF2B5EF4-FFF2-40B4-BE49-F238E27FC236}">
                <a16:creationId xmlns:a16="http://schemas.microsoft.com/office/drawing/2014/main" id="{9757869F-369A-4764-9EF6-4AC3A16F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838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7C6"/>
          </a:solidFill>
          <a:ln xmlns:a="http://schemas.openxmlformats.org/drawingml/2006/main" w="0">
            <a:solidFill>
              <a:srgbClr val="55B7C6"/>
            </a:solidFill>
            <a:prstDash val="solid"/>
          </a:ln>
        </p:spPr>
      </p:sp>
      <p:sp>
        <p:nvSpPr>
          <p:cNvPr id="8" name="s9-app">
            <a:extLst xmlns:a="http://schemas.openxmlformats.org/drawingml/2006/main">
              <a:ext uri="{FF2B5EF4-FFF2-40B4-BE49-F238E27FC236}">
                <a16:creationId xmlns:a16="http://schemas.microsoft.com/office/drawing/2014/main" id="{934DEBDC-9956-4F76-8F61-5D076A56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9" name="s9-api">
            <a:extLst xmlns:a="http://schemas.openxmlformats.org/drawingml/2006/main">
              <a:ext uri="{FF2B5EF4-FFF2-40B4-BE49-F238E27FC236}">
                <a16:creationId xmlns:a16="http://schemas.microsoft.com/office/drawing/2014/main" id="{E9158A71-0DFE-4CD9-9249-EEF8521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33650"/>
            <a:ext cx="2590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0" name="s9-db">
            <a:extLst xmlns:a="http://schemas.openxmlformats.org/drawingml/2006/main">
              <a:ext uri="{FF2B5EF4-FFF2-40B4-BE49-F238E27FC236}">
                <a16:creationId xmlns:a16="http://schemas.microsoft.com/office/drawing/2014/main" id="{84F70FE4-CDB1-4CFC-B898-D05292D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82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11" name="s9-l1">
            <a:extLst xmlns:a="http://schemas.openxmlformats.org/drawingml/2006/main">
              <a:ext uri="{FF2B5EF4-FFF2-40B4-BE49-F238E27FC236}">
                <a16:creationId xmlns:a16="http://schemas.microsoft.com/office/drawing/2014/main" id="{C26B7D69-85BC-495E-92F7-3B0855A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962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B7C6"/>
                </a:solidFill>
                <a:latin typeface="Arial"/>
                <a:ea typeface="Arial"/>
                <a:cs typeface="Arial"/>
              </a:defRPr>
            </a:pPr>
            <a:r>
              <a:t>INTERFAZ</a:t>
            </a:r>
          </a:p>
        </p:txBody>
      </p:sp>
      <p:sp>
        <p:nvSpPr>
          <p:cNvPr id="12" name="s9-h1">
            <a:extLst xmlns:a="http://schemas.openxmlformats.org/drawingml/2006/main">
              <a:ext uri="{FF2B5EF4-FFF2-40B4-BE49-F238E27FC236}">
                <a16:creationId xmlns:a16="http://schemas.microsoft.com/office/drawing/2014/main" id="{BF08BF27-858A-466F-B8A7-571BEB6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962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Angular</a:t>
            </a:r>
          </a:p>
        </p:txBody>
      </p:sp>
      <p:sp>
        <p:nvSpPr>
          <p:cNvPr id="13" name="s9-l2">
            <a:extLst xmlns:a="http://schemas.openxmlformats.org/drawingml/2006/main">
              <a:ext uri="{FF2B5EF4-FFF2-40B4-BE49-F238E27FC236}">
                <a16:creationId xmlns:a16="http://schemas.microsoft.com/office/drawing/2014/main" id="{24A2E398-9800-4720-95F4-29A56C2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035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E7EC"/>
                </a:solidFill>
                <a:latin typeface="Arial"/>
                <a:ea typeface="Arial"/>
                <a:cs typeface="Arial"/>
              </a:defRPr>
            </a:pPr>
            <a:r>
              <a:t>REGLAS DE NEGOCIO</a:t>
            </a:r>
          </a:p>
        </p:txBody>
      </p:sp>
      <p:sp>
        <p:nvSpPr>
          <p:cNvPr id="14" name="s9-h2">
            <a:extLst xmlns:a="http://schemas.openxmlformats.org/drawingml/2006/main">
              <a:ext uri="{FF2B5EF4-FFF2-40B4-BE49-F238E27FC236}">
                <a16:creationId xmlns:a16="http://schemas.microsoft.com/office/drawing/2014/main" id="{3514AD36-9D52-4B39-A536-576F7526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2057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NestJS</a:t>
            </a:r>
          </a:p>
        </p:txBody>
      </p:sp>
      <p:sp>
        <p:nvSpPr>
          <p:cNvPr id="15" name="s9-l3">
            <a:extLst xmlns:a="http://schemas.openxmlformats.org/drawingml/2006/main">
              <a:ext uri="{FF2B5EF4-FFF2-40B4-BE49-F238E27FC236}">
                <a16:creationId xmlns:a16="http://schemas.microsoft.com/office/drawing/2014/main" id="{05F08A72-6083-4405-9829-01BAF5B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DATOS Y GEOGRAFÍA</a:t>
            </a:r>
          </a:p>
        </p:txBody>
      </p:sp>
      <p:sp>
        <p:nvSpPr>
          <p:cNvPr id="16" name="s9-h3">
            <a:extLst xmlns:a="http://schemas.openxmlformats.org/drawingml/2006/main">
              <a:ext uri="{FF2B5EF4-FFF2-40B4-BE49-F238E27FC236}">
                <a16:creationId xmlns:a16="http://schemas.microsoft.com/office/drawing/2014/main" id="{076C6CD2-C4B1-4971-819D-DC1381C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64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PostgreSQL + PostGIS</a:t>
            </a:r>
          </a:p>
        </p:txBody>
      </p:sp>
      <p:sp>
        <p:nvSpPr>
          <p:cNvPr id="17" name="s9-support1">
            <a:extLst xmlns:a="http://schemas.openxmlformats.org/drawingml/2006/main">
              <a:ext uri="{FF2B5EF4-FFF2-40B4-BE49-F238E27FC236}">
                <a16:creationId xmlns:a16="http://schemas.microsoft.com/office/drawing/2014/main" id="{E3C61F8C-166D-42C3-A429-DBDD0A1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8" name="s9-support2">
            <a:extLst xmlns:a="http://schemas.openxmlformats.org/drawingml/2006/main">
              <a:ext uri="{FF2B5EF4-FFF2-40B4-BE49-F238E27FC236}">
                <a16:creationId xmlns:a16="http://schemas.microsoft.com/office/drawing/2014/main" id="{F0DBF160-C4E9-4191-B572-CF1D811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19" name="s9-support3">
            <a:extLst xmlns:a="http://schemas.openxmlformats.org/drawingml/2006/main">
              <a:ext uri="{FF2B5EF4-FFF2-40B4-BE49-F238E27FC236}">
                <a16:creationId xmlns:a16="http://schemas.microsoft.com/office/drawing/2014/main" id="{F9BD0527-5326-4EA2-96B6-085B6B0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20" name="s9-support4">
            <a:extLst xmlns:a="http://schemas.openxmlformats.org/drawingml/2006/main">
              <a:ext uri="{FF2B5EF4-FFF2-40B4-BE49-F238E27FC236}">
                <a16:creationId xmlns:a16="http://schemas.microsoft.com/office/drawing/2014/main" id="{BFDF93DD-A095-4655-8BAF-1107E63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solidFill>
              <a:srgbClr val="E9F0F2"/>
            </a:solidFill>
            <a:prstDash val="solid"/>
          </a:ln>
        </p:spPr>
      </p:sp>
      <p:sp>
        <p:nvSpPr>
          <p:cNvPr id="21" name="s9-s1">
            <a:extLst xmlns:a="http://schemas.openxmlformats.org/drawingml/2006/main">
              <a:ext uri="{FF2B5EF4-FFF2-40B4-BE49-F238E27FC236}">
                <a16:creationId xmlns:a16="http://schemas.microsoft.com/office/drawing/2014/main" id="{40953433-295E-46F0-B910-B09E7F73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Auditoría</a:t>
            </a:r>
          </a:p>
        </p:txBody>
      </p:sp>
      <p:sp>
        <p:nvSpPr>
          <p:cNvPr id="22" name="s9-s2">
            <a:extLst xmlns:a="http://schemas.openxmlformats.org/drawingml/2006/main">
              <a:ext uri="{FF2B5EF4-FFF2-40B4-BE49-F238E27FC236}">
                <a16:creationId xmlns:a16="http://schemas.microsoft.com/office/drawing/2014/main" id="{B3F47A35-3C4B-4E16-950A-E26E80C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625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Cola de trabajos</a:t>
            </a:r>
          </a:p>
        </p:txBody>
      </p:sp>
      <p:sp>
        <p:nvSpPr>
          <p:cNvPr id="23" name="s9-s3">
            <a:extLst xmlns:a="http://schemas.openxmlformats.org/drawingml/2006/main">
              <a:ext uri="{FF2B5EF4-FFF2-40B4-BE49-F238E27FC236}">
                <a16:creationId xmlns:a16="http://schemas.microsoft.com/office/drawing/2014/main" id="{2A732DD8-5A4F-414A-82AB-C2327460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625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Almacenamiento</a:t>
            </a:r>
          </a:p>
        </p:txBody>
      </p:sp>
      <p:sp>
        <p:nvSpPr>
          <p:cNvPr id="24" name="s9-s4">
            <a:extLst xmlns:a="http://schemas.openxmlformats.org/drawingml/2006/main">
              <a:ext uri="{FF2B5EF4-FFF2-40B4-BE49-F238E27FC236}">
                <a16:creationId xmlns:a16="http://schemas.microsoft.com/office/drawing/2014/main" id="{DF39FBEC-24D5-4003-B029-41653DE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625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445B"/>
                </a:solidFill>
                <a:latin typeface="Arial"/>
                <a:ea typeface="Arial"/>
                <a:cs typeface="Arial"/>
              </a:defRPr>
            </a:pPr>
            <a:r>
              <a:t>Observabilidad</a:t>
            </a:r>
          </a:p>
        </p:txBody>
      </p:sp>
    </p:spTree>
    <p:extLst>
      <p:ext uri="{BB962C8B-B14F-4D97-AF65-F5344CB8AC3E}">
        <p14:creationId xmlns:p14="http://schemas.microsoft.com/office/powerpoint/2010/main" val="408687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0">
            <a:extLst xmlns:a="http://schemas.openxmlformats.org/drawingml/2006/main">
              <a:ext uri="{FF2B5EF4-FFF2-40B4-BE49-F238E27FC236}">
                <a16:creationId xmlns:a16="http://schemas.microsoft.com/office/drawing/2014/main" id="{9D01EF9F-6AC2-41DA-8981-9E4F483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PRÓXIMO PASO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27958C9-6D04-4CE3-ACCE-994ECEF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49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Decisión solicitada: autorizar el piloto</a:t>
            </a:r>
          </a:p>
        </p:txBody>
      </p:sp>
      <p:sp>
        <p:nvSpPr>
          <p:cNvPr id="3" name="rule-52-654">
            <a:extLst xmlns:a="http://schemas.openxmlformats.org/drawingml/2006/main">
              <a:ext uri="{FF2B5EF4-FFF2-40B4-BE49-F238E27FC236}">
                <a16:creationId xmlns:a16="http://schemas.microsoft.com/office/drawing/2014/main" id="{07DC50CD-3388-4AA1-8963-9DF6792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9"/>
          </a:solidFill>
          <a:ln xmlns:a="http://schemas.openxmlformats.org/drawingml/2006/main" w="0">
            <a:solidFill>
              <a:srgbClr val="C9D5D9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8BCB8C21-FF86-4199-A187-40C0089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10-lead">
            <a:extLst xmlns:a="http://schemas.openxmlformats.org/drawingml/2006/main">
              <a:ext uri="{FF2B5EF4-FFF2-40B4-BE49-F238E27FC236}">
                <a16:creationId xmlns:a16="http://schemas.microsoft.com/office/drawing/2014/main" id="{6325A160-0CA7-41FF-93A9-D0E63C63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La siguiente etapa requiere acuerdos claros antes de construir.</a:t>
            </a:r>
          </a:p>
        </p:txBody>
      </p:sp>
      <p:sp>
        <p:nvSpPr>
          <p:cNvPr id="6" name="s10-c1">
            <a:extLst xmlns:a="http://schemas.openxmlformats.org/drawingml/2006/main">
              <a:ext uri="{FF2B5EF4-FFF2-40B4-BE49-F238E27FC236}">
                <a16:creationId xmlns:a16="http://schemas.microsoft.com/office/drawing/2014/main" id="{09D52315-25CD-4661-BBE7-358848A8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333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45B"/>
          </a:solidFill>
          <a:ln xmlns:a="http://schemas.openxmlformats.org/drawingml/2006/main" w="0">
            <a:solidFill>
              <a:srgbClr val="0C445B"/>
            </a:solidFill>
            <a:prstDash val="solid"/>
          </a:ln>
        </p:spPr>
      </p:sp>
      <p:sp>
        <p:nvSpPr>
          <p:cNvPr id="7" name="s10-c2">
            <a:extLst xmlns:a="http://schemas.openxmlformats.org/drawingml/2006/main">
              <a:ext uri="{FF2B5EF4-FFF2-40B4-BE49-F238E27FC236}">
                <a16:creationId xmlns:a16="http://schemas.microsoft.com/office/drawing/2014/main" id="{D7EF1EB0-1579-4E01-8F7C-3052135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3333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8" name="s10-c3">
            <a:extLst xmlns:a="http://schemas.openxmlformats.org/drawingml/2006/main">
              <a:ext uri="{FF2B5EF4-FFF2-40B4-BE49-F238E27FC236}">
                <a16:creationId xmlns:a16="http://schemas.microsoft.com/office/drawing/2014/main" id="{F5E78D43-630E-4C3E-97A1-314ED545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3333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solidFill>
              <a:srgbClr val="F4F7F8"/>
            </a:solidFill>
            <a:prstDash val="solid"/>
          </a:ln>
        </p:spPr>
      </p:sp>
      <p:sp>
        <p:nvSpPr>
          <p:cNvPr id="9" name="s10-n1">
            <a:extLst xmlns:a="http://schemas.openxmlformats.org/drawingml/2006/main">
              <a:ext uri="{FF2B5EF4-FFF2-40B4-BE49-F238E27FC236}">
                <a16:creationId xmlns:a16="http://schemas.microsoft.com/office/drawing/2014/main" id="{D40F4FC7-C4CC-4B99-ADA7-930D9B3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B7C6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0" name="s10-h1">
            <a:extLst xmlns:a="http://schemas.openxmlformats.org/drawingml/2006/main">
              <a:ext uri="{FF2B5EF4-FFF2-40B4-BE49-F238E27FC236}">
                <a16:creationId xmlns:a16="http://schemas.microsoft.com/office/drawing/2014/main" id="{4CDADEFA-8B51-4ED0-9F5E-4BB2997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Validar alcance</a:t>
            </a:r>
          </a:p>
        </p:txBody>
      </p:sp>
      <p:sp>
        <p:nvSpPr>
          <p:cNvPr id="11" name="s10-b1">
            <a:extLst xmlns:a="http://schemas.openxmlformats.org/drawingml/2006/main">
              <a:ext uri="{FF2B5EF4-FFF2-40B4-BE49-F238E27FC236}">
                <a16:creationId xmlns:a16="http://schemas.microsoft.com/office/drawing/2014/main" id="{5732148A-D769-4C57-812C-7771CAE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57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4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E7EC"/>
                </a:solidFill>
                <a:latin typeface="Arial"/>
                <a:ea typeface="Arial"/>
                <a:cs typeface="Arial"/>
              </a:defRPr>
            </a:pPr>
            <a:r>
              <a:t>Formularios, reglas, indicadores y criterios de cierre.</a:t>
            </a:r>
          </a:p>
        </p:txBody>
      </p:sp>
      <p:sp>
        <p:nvSpPr>
          <p:cNvPr id="12" name="s10-n2">
            <a:extLst xmlns:a="http://schemas.openxmlformats.org/drawingml/2006/main">
              <a:ext uri="{FF2B5EF4-FFF2-40B4-BE49-F238E27FC236}">
                <a16:creationId xmlns:a16="http://schemas.microsoft.com/office/drawing/2014/main" id="{D2798290-E767-41BA-AD45-701FB959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10-h2">
            <a:extLst xmlns:a="http://schemas.openxmlformats.org/drawingml/2006/main">
              <a:ext uri="{FF2B5EF4-FFF2-40B4-BE49-F238E27FC236}">
                <a16:creationId xmlns:a16="http://schemas.microsoft.com/office/drawing/2014/main" id="{29BA098A-84DE-41A1-9EF9-39B9EC9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99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Designar responsables</a:t>
            </a:r>
          </a:p>
        </p:txBody>
      </p:sp>
      <p:sp>
        <p:nvSpPr>
          <p:cNvPr id="14" name="s10-b2">
            <a:extLst xmlns:a="http://schemas.openxmlformats.org/drawingml/2006/main">
              <a:ext uri="{FF2B5EF4-FFF2-40B4-BE49-F238E27FC236}">
                <a16:creationId xmlns:a16="http://schemas.microsoft.com/office/drawing/2014/main" id="{87B12944-CE4C-4EAE-982E-D4EABC32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150"/>
            <a:ext cx="257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Contraparte institucional, técnica y referentes por nivel.</a:t>
            </a:r>
          </a:p>
        </p:txBody>
      </p:sp>
      <p:sp>
        <p:nvSpPr>
          <p:cNvPr id="15" name="s10-n3">
            <a:extLst xmlns:a="http://schemas.openxmlformats.org/drawingml/2006/main">
              <a:ext uri="{FF2B5EF4-FFF2-40B4-BE49-F238E27FC236}">
                <a16:creationId xmlns:a16="http://schemas.microsoft.com/office/drawing/2014/main" id="{01EFD713-C0C4-4A05-9BE7-5D9A3256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457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9C93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s10-h3">
            <a:extLst xmlns:a="http://schemas.openxmlformats.org/drawingml/2006/main">
              <a:ext uri="{FF2B5EF4-FFF2-40B4-BE49-F238E27FC236}">
                <a16:creationId xmlns:a16="http://schemas.microsoft.com/office/drawing/2014/main" id="{20A41570-302E-4B47-8024-8417368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t>Habilitar insumos</a:t>
            </a:r>
          </a:p>
        </p:txBody>
      </p:sp>
      <p:sp>
        <p:nvSpPr>
          <p:cNvPr id="17" name="s10-b3">
            <a:extLst xmlns:a="http://schemas.openxmlformats.org/drawingml/2006/main">
              <a:ext uri="{FF2B5EF4-FFF2-40B4-BE49-F238E27FC236}">
                <a16:creationId xmlns:a16="http://schemas.microsoft.com/office/drawing/2014/main" id="{F4526AEB-1881-4385-A4A9-B97971C3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257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t>Formatos oficiales, catálogos y datos necesarios para configurar el piloto.</a:t>
            </a:r>
          </a:p>
        </p:txBody>
      </p:sp>
      <p:sp>
        <p:nvSpPr>
          <p:cNvPr id="18" name="s10-close-bg">
            <a:extLst xmlns:a="http://schemas.openxmlformats.org/drawingml/2006/main">
              <a:ext uri="{FF2B5EF4-FFF2-40B4-BE49-F238E27FC236}">
                <a16:creationId xmlns:a16="http://schemas.microsoft.com/office/drawing/2014/main" id="{4DBC1CF4-C63B-42A3-8DD4-0C148AD3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53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9" name="s10-close">
            <a:extLst xmlns:a="http://schemas.openxmlformats.org/drawingml/2006/main">
              <a:ext uri="{FF2B5EF4-FFF2-40B4-BE49-F238E27FC236}">
                <a16:creationId xmlns:a16="http://schemas.microsoft.com/office/drawing/2014/main" id="{A94EF506-1676-4AF3-951D-B4366D6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988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Aprobar el piloto hoy permite validar el proceso antes de escalar la inversión.</a:t>
            </a:r>
          </a:p>
        </p:txBody>
      </p:sp>
    </p:spTree>
    <p:extLst>
      <p:ext uri="{BB962C8B-B14F-4D97-AF65-F5344CB8AC3E}">
        <p14:creationId xmlns:p14="http://schemas.microsoft.com/office/powerpoint/2010/main" val="240468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2026-07-24T15:42:47.8340000Z</dcterms:created>
  <dcterms:modified xsi:type="dcterms:W3CDTF">2026-07-24T15:42:47.8340000Z</dcterms:modified>
</coreProperties>
</file>